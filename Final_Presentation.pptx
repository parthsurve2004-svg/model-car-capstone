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Relationship Id="rId6" Type="http://schemas.openxmlformats.org/officeDocument/2006/relationships/notesMaster" Target="notesMasters/notesMaster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introduce the final project presentation and institutional affiliation. The original four-by-three template, logo, background, typography and institution panel are retained. Placeholder review/year text is updated to Final Presentation and the report academic year2026–27. This deck is planned for10–15minutes. The presentation separates current source implementation, logged model validation, reported figures without raw logs, and the newly trained traffic-sign extension.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Self-Driving Mini Car: Lane Detection, Obstacle Avoidance and Traffic Sign Recognition. The three student members are Krishna Menon, Aditya Rana and Parth Surve, under Dr.Hima Deepthi Vankayalapati. Student identifiers are taken from the uploaded final project report, not older presentation scripts in GitHub which use different roll numbers. The paper itself uses a related two-layer architecture title; that manuscript title is shown on the paper-status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a controlled-track autonomous RC-car project. The image is a conceptual chassis illustration, not a photograph of the team vehicle. Perception runs on Raspberry Pi5; Arduino Uno executes motor PWM and local sensing. The project combines lane geometry, visual hazard recognition and a separate trained traffic-sign extension. The core objective is coordinated and observable behavior. Specific model scores and validation boundaries are concentrated on slide12. No actual car photographs are included in this revision.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literature informs individual design choices rather than proving this prototype superior to other robots. YOLOv10 provides the object-detection family, KCF supports inexpensive visual tracking, and RDD2022 provides a road-damage learning task. OpenBot and Duckietown demonstrate accessible educational autonomy. Our focus is the interface between perception and actuation: clear serial commands, finite-state execution and complementary sensing. We do not reproduce unsupported comparative latency or accuracy numbers from secondary report tables. Full citations and the repository revision appear in the references slide and notes.</a:t>
            </a:r>
          </a:p>
          <a:p/>
          <a:p>
            <a:r>
              <a:t>Viva: novelty is at the system-integration level, not a new object-detection architecture. Explain why KCF complements neural detections and why RDD scores cannot be transferred to a model-car printout track. There is no controlled comparative benchmark establishing superiority over OpenBot or Duckietown. OpenBot is an ECCV2020 work; this corrects the venue in the supplied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component pictures are generated conceptual illustrations, not photographs of the installed boards and not a pin-level wiring schematic. Follow CSI camera→Pi→serial→Uno→L298N→paired motor sides. Sonar echo timing terminates on Uno. The Pi consumes returned distances and state. Serial is115200baud. Pi runs lane geometry, general YOLO hazards, dedicated pothole recognition and tracking; the sign model extends its decision stage separately from Krishna main. Uno executes finite-state motion and local avoidance. The illustration does not prove board port placement, power wiring, metric odometry or measured heading. Current firmware and sketch-local pins are the wiring authority. Ordinary USB is not galvanic isolation.</a:t>
            </a:r>
          </a:p>
          <a:p/>
          <a:p>
            <a:r>
              <a:t>Hardware reference: left motor B=D6PWM/D10/D11; right A=D5PWM/D8/D9. Left sonar=D7TRIG/D13ECHO; right=D12TRIG/D4ECHO. D2/D3 reserved for future encoders. Camera CSI; serial115200baud. Pi Python stack: Picamera2, OpenCV, Ultralytics/NCNN, pyserial. Uno uses C++ motion-state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loop first captures a frame and drains incoming telemetry. General neural detection is scheduled every third loop iteration; cached boxes are reused in between, so loop FPS is not fresh neural FPS. In the trained extension, sign inference is separately rate-limited. Existing obstacle decisions retain priority when no sign action is active. A STOP or No Entry hold suppresses ordinary driving; a turn requires confirmation and clearance. If a hazard interrupts an active sign maneuver, it stops and records a fault. Normal lane, person-following or reactive guidance proceeds only when no higher-priority action governs the iteration.</a:t>
            </a:r>
          </a:p>
          <a:p/>
          <a:p>
            <a:r>
              <a:t>Flowchart is a conceptual priority view: exact branches are implemented in the runtime, including obstacle-specific stop/bypass choices. In particular, a pending sign does not force a turn through an obstacle. A turn already active that is interrupted becomes a fault instead of silently resuming. Freshness checks apply to the trained extension; do not claim those exact checks were already present in Krishna main. Default three confirmations must be fresh detector observations, never the same cached bounding box repeated three times. The independent Uno local avoidance layer remains operative.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use-case view distinguishes the human operator from the environment. The operator selects a mode, chooses the owner for follow mode, inspects telemetry and can stop or reset the system. The environment supplies lane markings, people, obstacles and printed signs. The system uses the same perception-control boundary across these tasks. Resetting the traffic-sign policy does not release an independent emergency latch. Direct manual motion is deliberately restricted while sign arbitration owns movement. The diagram represents supported interactions; it is not a claim that all physical scenarios have passed track validation.</a:t>
            </a:r>
          </a:p>
          <a:p/>
          <a:p>
            <a:r>
              <a:t>Use-case diagram is conceptual UML, not a component wiring diagram. Operator actions include mode selection and choosing a follow-me owner. The environment is a source of lanes, people, signs and obstacles. A demonstration should log the visual event, policy state and command, then independently observe movement. Emergency stop and traffic-policy reset are different operations; resetting No Entry cannot release an unrelated safety latch. Actual-track outcomes are pending, so the bottom table is a demonstration plan, not claimed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Source-backed obstacle path: general YOLOv10n detections plus person/pothole boxes feed _check_obstacle_ahead and compute_zone_scores. Central corridor is20–80% of image width; box-height fraction above0.40 requests camera STOP, above0.15 requests caution. The camera stop is latched with PI_STOP; release behavior is mode-specific, including guarded autonomous escape logic, so do not imply an unconditional permanent latch. Zone scoring considers confidence, obstacle class weight, area, bottom-edge proximity and front ultrasonic ranges; image position is a proximity heuristic, not calibrated meters. Left/center/right danger chooses the lower-risk lateral direction, or STOP when blocked. Autonomous bypass sends PI_AVOID plus a timed±35degree turn atPWM160; lane mode uses±32degrees at lane curve speed. Asymmetric sonar can also request bypass; critical front range uses25cm threshold in the Pi config. Respect Uno AVOIDING/CLIFF_REVERSING states; the source supports cliff behavior but the diagram is not proof of validated cliff sensing. The detailed avoidance helper has extra actions, but main imports decide_avoidance, not decide_avoidance_detailed. No new physical avoidance success rate is claimed. Exact hardware pins remain in architecture notes and the companion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Lane detection is classical image processing, not a YOLO lane model, so an mAP score is not applicable. The pipeline examines the lower55percent of the frame, masks supported line colors, excludes hazard bounding boxes, tracks window pixels and robustly fits quadratic boundaries. A center trajectory can be recovered temporarily from one line. Lookahead is configured at0.68of image height. The implementation applies smoothing and rejects large geometry jumps. If the lane is missing beyond eight frames, it stops rather than inventing a path. The drawing is schematic, not a calibrated metric road model or an accuracy result. Timing claims in context documentation require device logs for verification.</a:t>
            </a:r>
          </a:p>
          <a:p/>
          <a:p>
            <a:r>
              <a:t>Equation uses normalized image coordinates, not meters. Center-path tangent is ψ = −atan(2ay+b), converted to degrees. Code applies proportional lateral-error gain145 and tangent gain28/45, then clips to±38degrees. Despite the source describing this as pure pursuit, this slide states the implemented algebra rather than asserting a calibrated vehicle bicycle model. Steering deadband is6degrees; speeds default165 straight and145 correction PWM. ROI starts0.45H; lookahead0.68H; default lane width0.52W. Lane geometry has no detector mAP. Appropriate real-track metrics are lateral error, completion rate, intervention count and cycle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live source loads a dedicated pothole model in addition to the general YOLOv10n obstacle model. The classical Laplacian routine remains available but is off by default, so we do not describe it as always active. The original RDD run has50logged epochs and finalmAP50of0.25226. The printout fine-tuning log in the current repository contains six recorded epochs, ending at0.97333mAP50. Although its arguments request25epochs, only six rows are evidence. The uploaded report expresses uncertainty about the printout result; the newly fetched CSV establishes the logged value, but not external validity or independence of the split.</a:t>
            </a:r>
          </a:p>
          <a:p/>
          <a:p>
            <a:r>
              <a:t>Both plots show actual logged validation points, with a shared0–1vertical scale but separate domains and epoch counts. The inset is the top-right cell of the repository val_batch0_pred.jpg montage, shown using editable PowerPoint crop metadata; its prediction boxes are preserved. Final CSV values are used consistently; RDD best mAP50is0.25410 at epoch49, while final epoch50is0.25226. Printout args request25epochs but the CSV contains6rows. mAP50is mean average precision at IoU0.50; mAP50–95 averages IoU thresholds0.50through0.95. The printout score establishes logged validation performance, not an audited independent split or physically observed avoidance success. Confidence threshold is0.20 in current config for potholes.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Traffic-sign recognition is the trained extension developed in this conversation and supplied separately; it is not yet on Krishna main9aeb238. The four demonstrated prints are STOP, No Entry, Left and Right. We actually fine-tuned YOLOv10n for25epochs on generated sign images, and exported verified FP16NCNN weights. The held-out synthetic mAP50is0.99486; it must not be presented as real road accuracy. The extension confirms three fresh observations. STOP commands a dwell; No Entry holds until reset; turns use apparent size and bearing plus safety clearance. Both checkpoint and NCNN passed all four image-to-command checks with mocked motors. One SLOW octagon falseSTOP and one unfamiliar small-font miss remain recorded.</a:t>
            </a:r>
          </a:p>
          <a:p/>
          <a:p>
            <a:r>
              <a:t>The sign model is genuinely trained; it is not template matching and does not require a video file at runtime. It accepts frames from the moving camera. Synthetic backgrounds, geometry and card placement vary; held-out counts are image counts, not independent physical trials. No flips are used because mirroring arrows changes their meaning. NCNN and PT checks both produce the four expected policy outcomes. A known negative SLOW octagon gives a falseSTOP; an unfamiliar narrow-font smallSTOP can be missed. Turn gate assumes53.5degree horizontal FOV, uses a pinhole bearing estimate, and is not a junction detector or metric distance. Default turn PWM210; calibration10ms/degree. Lane-mode turn pulses12degrees, requires commanded motion≥72degrees plus lane departure and three fresh centered DUAL_LOCKED frames; cap96commandeddegrees or6seconds leads to a fault if not completed. Autonomous/follow modes use timed±90degree commands; actual heading is not verified.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rows by domain, not as a ranking. The road-damage model has substantial limitations, especially recall, while the printout validation is much easier and narrower. The traffic model was evaluated on synthetic imagery. Precision and recall here are evaluator summaries, not a guarantee for every camera frame. The report lists38msor26.3FPSandother sections claim22–26ms, but explicitly states raw device timing logs are absent. The software also runs neural detection every third loop iteration. Therefore the presentation makes no independently verified20–30fresh-detectionFPSclaim and no physical stopping-distance guarantee. A waveform or scenario table alone is not proof of measured latency.</a:t>
            </a:r>
          </a:p>
          <a:p/>
          <a:p>
            <a:r>
              <a:t>Metric definitions for viva: precision=TP/(TP+FP), recall=TP/(TP+FN). AP is area under the precision–recall curve; mAP averages per-class AP. IoU=intersection area / union area. Confidence is not an accuracy percentage. These three rows cannot be compared as competing models because their tasks and data domains differ. Inference frequency is bounded by scheduling and contention; sign inference is separately rate-limited. An end-to-end latency budget must include capture, preprocessing, inference, arbitration, serial transmission and physical actuation. Do not quote reported26.3FPS as reproduced on-device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is a modular prototype with a clear division of responsibility and reproducible software artifacts. Its main contribution is coordination, not proof that a small camera can safely drive on public roads. Future work should start with dated physical logs: camera-to-command delay, sonar update behavior, actual braking distance and sustained Pi temperatures. Rear sensing addresses reverse blind spots. Encoders or a completed IMU heading implementation are needed for measured turns rather than time estimates. Real photographs of printed signs, potholes and track conditions should be added to training and independently evaluated. These are future capabilities, not features already verified.</a:t>
            </a:r>
          </a:p>
          <a:p/>
          <a:p>
            <a:r>
              <a:t>Present the work as an educational controlled-track prototype with delivered implementation and reproducible training evidence. Critical next measurements: synchronized camera-to-command timestamps, physical stopping distance versus speed, sustained temperature and inference throughput, track intervention count, lane position error and real printed-sign sensitivity. New datasets should be split by physical scene/session to reduce leakage. Encoders and completed IMU feedback enable actual heading/distance estimation; current heading stub does not. Rear sensing is needed before stronger reverse-motion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SDG9is the primary mapping because this is an engineering research and innovation project with reproducible methods and modular hardware. SDG3target3.6is relevant to the motivation of collision prevention, but we have not measured injury reduction and cannot claim that impact. SDG11target11.2concerns safe, accessible and sustainable transport; our contribution is exploratory education and prototyping, not a deployed transit service. This mapping avoids claiming carbon savings, accident reductions or social outcomes that were never measured. The official United Nations goal pages are included as source links.</a:t>
            </a:r>
          </a:p>
          <a:p/>
          <a:p>
            <a:r>
              <a:t>Assessment cue: explain an evidence-backed mechanism, not just a list of SDG logos. Goal9target9.5concerns research and technological capabilities and best matches the deliverables. Goal3target3.6is a safety-motivation link, not demonstrated injury reduction. Goal11target11.2is relevant to safe transport research, while our small prototype is not itself a public transportation solution. Colored number circles are project illustrations, not altered official UN logos.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states that the paper has been submitted. We have not been given the venue, submission identifier, submission date, reviewer decision or acceptance email. Consequently, this slide must not be read as acceptance. The supplied final paper is a manuscript, while the project report contains institutional approval/logbook pages, neither of which constitutes a journal or conference acceptance notice. When a genuine decision arrives, replace the status and insert the actual supporting email with private identifiers redacted as appropriate. Do not invent a venue logo, screenshot or publication identifier.</a:t>
            </a:r>
          </a:p>
          <a:p/>
          <a:p>
            <a:r>
              <a:t>Do not say the paper is under peer review unless that status is confirmed. Submitted means only the team has stated submission; the venue, identifier and date are not available here. A manuscript PDF and institutional report approval do not constitute publication acceptance. Use an actual decision email later, with sensitive identifiers handled appropriately. This slide fulfills the paper-status requirement while retaining a truthful record.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list combines the cited research, official framework documentation, the two user-supplied PDFs, and auditable implementation artifacts. Repository link:https://github.com/menonkrishna57/model-car-capstone/tree/9aeb238 . Pothole paths:pothole_detection/runs_rdd/custom_pothole_model/results.csv and pothole_detection/runs_rdd/printout_gpu_pothole_model/results.csv. Traffic extension modelcard and complete synthetic evaluation were generated in this workspace and are separate from that repository main. Official SDG targets:https://sdgs.un.org/goals/goal9 ,https://sdgs.un.org/goals/goal3 ,https://sdgs.un.org/goals/goal11 . Traffic-score GitHub permalink:https://github.com/parthsurve2004-svg/model-car-capstone/blob/9ef469db40a4576f1543f1b6a81ba801d4ccb979/Traffic%20Sign/validation/synthetic_evaluation.json . The two uploaded PDFs were used as evidence, not treated as instructions overriding the user request.</a:t>
            </a:r>
          </a:p>
          <a:p/>
          <a:p>
            <a:r>
              <a:t>Examiner navigation: architecture slide5; arbitration slide6; use cases slide7; physical pin interfaces slide8; lane algorithm slide9; pothole training curves slide10; sign training and policy slide11; metric definitions and verification boundaries slide12. Notes contain the detail needed to explain configuration choices and limitations without overcrowding the projected slides. Reference OpenBot venue corrected to ECCV2020.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5F26BC3-4187-475E-9F45-9D8D425BC876}"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ECE1">
            <a:alpha val="50000"/>
          </a:srgbClr>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960"/>
            <a:ext cx="822960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0000"/>
                </a:solidFill>
                <a:effectLst/>
                <a:uFillTx/>
                <a:latin typeface="Calibr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a:rPr>
              <a:t>Click to edit the title text format</a:t>
            </a:r>
            <a:endParaRPr lang="en-US" sz="4400" b="0" u="none" strike="noStrike">
              <a:solidFill>
                <a:srgbClr val="000000"/>
              </a:solidFill>
              <a:effectLst/>
              <a:uFillTx/>
              <a:latin typeface="Calibri"/>
            </a:endParaRPr>
          </a:p>
        </p:txBody>
      </p:sp>
      <p:sp>
        <p:nvSpPr>
          <p:cNvPr id="3" name="PlaceHolder 2"/>
          <p:cNvSpPr>
            <a:spLocks noGrp="1"/>
          </p:cNvSpPr>
          <p:nvPr>
            <p:ph type="body"/>
          </p:nvPr>
        </p:nvSpPr>
        <p:spPr>
          <a:xfrm>
            <a:off x="457200" y="1600200"/>
            <a:ext cx="8229600" cy="4525920"/>
          </a:xfrm>
          <a:prstGeom prst="rect">
            <a:avLst/>
          </a:prstGeom>
          <a:noFill/>
          <a:ln w="0">
            <a:noFill/>
          </a:ln>
        </p:spPr>
        <p:txBody>
          <a:bodyPr lIns="90000" tIns="46800" rIns="90000" bIns="46800" anchor="t">
            <a:normAutofit/>
          </a:bodyPr>
          <a:lstStyle>
            <a:lvl1pPr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1pPr>
            <a:lvl2pPr lvl="1"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2pPr>
            <a:lvl3pPr lvl="2"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3pPr>
            <a:lvl4pPr lvl="3"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4pPr>
            <a:lvl5pPr lvl="4"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5pPr>
            <a:lvl6pPr lvl="5"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6pPr>
            <a:lvl7pPr lvl="6"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Calibri"/>
              </a:defRPr>
            </a:lvl7pPr>
          </a:lstStyle>
          <a:p>
            <a:pPr marL="343080" indent="-34308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Click to edit the outline text format</a:t>
            </a:r>
            <a:endParaRPr lang="en-US" sz="3200" b="0" u="none" strike="noStrike">
              <a:solidFill>
                <a:srgbClr val="000000"/>
              </a:solidFill>
              <a:effectLst/>
              <a:uFillTx/>
              <a:latin typeface="Calibri"/>
            </a:endParaRPr>
          </a:p>
          <a:p>
            <a:pPr marL="743040" lvl="1" indent="-28584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Second Outline Level</a:t>
            </a:r>
            <a:endParaRPr lang="en-US" sz="3200" b="0" u="none" strike="noStrike">
              <a:solidFill>
                <a:srgbClr val="000000"/>
              </a:solidFill>
              <a:effectLst/>
              <a:uFillTx/>
              <a:latin typeface="Calibri"/>
            </a:endParaRPr>
          </a:p>
          <a:p>
            <a:pPr marL="1143000" lvl="2"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Third Outline Level</a:t>
            </a:r>
            <a:endParaRPr lang="en-US" sz="3200" b="0" u="none" strike="noStrike">
              <a:solidFill>
                <a:srgbClr val="000000"/>
              </a:solidFill>
              <a:effectLst/>
              <a:uFillTx/>
              <a:latin typeface="Calibri"/>
            </a:endParaRPr>
          </a:p>
          <a:p>
            <a:pPr marL="1600200" lvl="3"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Fourth Outline Level</a:t>
            </a:r>
            <a:endParaRPr lang="en-US" sz="3200" b="0" u="none" strike="noStrike">
              <a:solidFill>
                <a:srgbClr val="000000"/>
              </a:solidFill>
              <a:effectLst/>
              <a:uFillTx/>
              <a:latin typeface="Calibri"/>
            </a:endParaRPr>
          </a:p>
          <a:p>
            <a:pPr marL="2057400" lvl="4"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Fifth Outline Level</a:t>
            </a:r>
            <a:endParaRPr lang="en-US" sz="3200" b="0" u="none" strike="noStrike">
              <a:solidFill>
                <a:srgbClr val="000000"/>
              </a:solidFill>
              <a:effectLst/>
              <a:uFillTx/>
              <a:latin typeface="Calibri"/>
            </a:endParaRPr>
          </a:p>
          <a:p>
            <a:pPr marL="2057400" lvl="5"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Sixth Outline Level</a:t>
            </a:r>
            <a:endParaRPr lang="en-US" sz="3200" b="0" u="none" strike="noStrike">
              <a:solidFill>
                <a:srgbClr val="000000"/>
              </a:solidFill>
              <a:effectLst/>
              <a:uFillTx/>
              <a:latin typeface="Calibri"/>
            </a:endParaRPr>
          </a:p>
          <a:p>
            <a:pPr marL="2057400" lvl="6" indent="-228600" algn="l">
              <a:spcBef>
                <a:spcPts val="799"/>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Calibri"/>
              </a:rPr>
              <a:t>Seventh Outline Level</a:t>
            </a:r>
            <a:endParaRPr lang="en-US" sz="3200" b="0" u="none" strike="noStrike">
              <a:solidFill>
                <a:srgbClr val="000000"/>
              </a:solidFill>
              <a:effectLst/>
              <a:uFillTx/>
              <a:latin typeface="Calibri"/>
            </a:endParaRPr>
          </a:p>
        </p:txBody>
      </p:sp>
      <p:sp>
        <p:nvSpPr>
          <p:cNvPr id="4" name="PlaceHolder 3"/>
          <p:cNvSpPr>
            <a:spLocks noGrp="1"/>
          </p:cNvSpPr>
          <p:nvPr>
            <p:ph type="dt" idx="1"/>
          </p:nvPr>
        </p:nvSpPr>
        <p:spPr>
          <a:xfrm>
            <a:off x="457200" y="6356160"/>
            <a:ext cx="2133360" cy="365040"/>
          </a:xfrm>
          <a:prstGeom prst="rect">
            <a:avLst/>
          </a:prstGeom>
          <a:noFill/>
          <a:ln w="38160">
            <a:noFill/>
          </a:ln>
        </p:spPr>
        <p:txBody>
          <a:bodyPr lIns="90000" tIns="46800" rIns="90000" bIns="46800" anchor="ctr">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898989"/>
                </a:solidFill>
                <a:effectLst/>
                <a:uFillTx/>
                <a:latin typeface="Calibri"/>
              </a:defRPr>
            </a:lvl1pPr>
          </a:lstStyle>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AD3BDE6-396D-470F-942C-E5E0420C955C}" type="datetime">
              <a:rPr lang="en-US" sz="1200" b="0" u="none" strike="noStrike">
                <a:solidFill>
                  <a:srgbClr val="898989"/>
                </a:solidFill>
                <a:effectLst/>
                <a:uFillTx/>
                <a:latin typeface="Calibri"/>
              </a:rPr>
              <a:t>10/30/26</a:t>
            </a:fld>
            <a:endParaRPr lang="en-US" sz="1200" b="0" u="none" strike="noStrike">
              <a:solidFill>
                <a:srgbClr val="000000"/>
              </a:solidFill>
              <a:effectLst/>
              <a:uFillTx/>
              <a:latin typeface="Calibri"/>
            </a:endParaRPr>
          </a:p>
        </p:txBody>
      </p:sp>
      <p:sp>
        <p:nvSpPr>
          <p:cNvPr id="5" name="PlaceHolder 4"/>
          <p:cNvSpPr>
            <a:spLocks noGrp="1"/>
          </p:cNvSpPr>
          <p:nvPr>
            <p:ph type="ftr" idx="2"/>
          </p:nvPr>
        </p:nvSpPr>
        <p:spPr>
          <a:xfrm>
            <a:off x="3123720" y="6356160"/>
            <a:ext cx="2895480" cy="365040"/>
          </a:xfrm>
          <a:prstGeom prst="rect">
            <a:avLst/>
          </a:prstGeom>
          <a:noFill/>
          <a:ln w="38160">
            <a:noFill/>
          </a:ln>
        </p:spPr>
        <p:txBody>
          <a:bodyPr lIns="90000" tIns="46800" rIns="90000" bIns="46800" anchor="ctr">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 name="PlaceHolder 5"/>
          <p:cNvSpPr>
            <a:spLocks noGrp="1"/>
          </p:cNvSpPr>
          <p:nvPr>
            <p:ph type="sldNum" idx="3"/>
          </p:nvPr>
        </p:nvSpPr>
        <p:spPr>
          <a:xfrm>
            <a:off x="6552720" y="6356160"/>
            <a:ext cx="2133720" cy="365040"/>
          </a:xfrm>
          <a:prstGeom prst="rect">
            <a:avLst/>
          </a:prstGeom>
          <a:noFill/>
          <a:ln w="3816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898989"/>
                </a:solidFill>
                <a:effectLst/>
                <a:uFillTx/>
                <a:latin typeface="Calibri"/>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82BE8D4-5C30-4816-8D56-4B1B2B89886B}" type="slidenum">
              <a:rPr lang="en-US" sz="1200" b="0" u="none" strike="noStrike">
                <a:solidFill>
                  <a:srgbClr val="898989"/>
                </a:solidFill>
                <a:effectLst/>
                <a:uFillTx/>
                <a:latin typeface="Calibri"/>
              </a:rPr>
              <a:t>&lt;number&gt;</a:t>
            </a:fld>
            <a:endParaRPr lang="en-US" sz="1200" b="0" u="none" strike="noStrike">
              <a:solidFill>
                <a:srgbClr val="000000"/>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menonkrishna57/model-car-capstone/blob/9aeb238/pothole_detection/runs_rdd/custom_pothole_model/results.csv" TargetMode="External"/><Relationship Id="rId3" Type="http://schemas.openxmlformats.org/officeDocument/2006/relationships/hyperlink" Target="https://github.com/menonkrishna57/model-car-capstone/blob/9aeb238/pothole_detection/runs_rdd/printout_gpu_pothole_model/results.csv" TargetMode="External"/><Relationship Id="rId4" Type="http://schemas.openxmlformats.org/officeDocument/2006/relationships/hyperlink" Target="https://github.com/parthsurve2004-svg/model-car-capstone/blob/9ef469db40a4576f1543f1b6a81ba801d4ccb979/Traffic%20Sign/validation/synthetic_evaluation.json" TargetMode="Externa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rxiv.org/abs/2405.14458" TargetMode="External"/><Relationship Id="rId3" Type="http://schemas.openxmlformats.org/officeDocument/2006/relationships/hyperlink" Target="https://doi.org/10.1109/TPAMI.2014.2345390" TargetMode="External"/><Relationship Id="rId4" Type="http://schemas.openxmlformats.org/officeDocument/2006/relationships/hyperlink" Target="https://doi.org/10.1002/gdj3.260" TargetMode="External"/><Relationship Id="rId5" Type="http://schemas.openxmlformats.org/officeDocument/2006/relationships/hyperlink" Target="https://www.openbot.org/" TargetMode="External"/><Relationship Id="rId6" Type="http://schemas.openxmlformats.org/officeDocument/2006/relationships/hyperlink" Target="https://duckietown.com/" TargetMode="External"/><Relationship Id="rId7" Type="http://schemas.openxmlformats.org/officeDocument/2006/relationships/hyperlink" Target="https://github.com/Tencent/ncnn" TargetMode="External"/><Relationship Id="rId8" Type="http://schemas.openxmlformats.org/officeDocument/2006/relationships/hyperlink" Target="https://github.com/menonkrishna57/model-car-capstone/tree/9aeb238" TargetMode="External"/><Relationship Id="rId9" Type="http://schemas.openxmlformats.org/officeDocument/2006/relationships/hyperlink" Target="https://github.com/parthsurve2004-svg/model-car-capstone/tree/downloads/traffic-sign-pi" TargetMode="External"/><Relationship Id="rId10" Type="http://schemas.openxmlformats.org/officeDocument/2006/relationships/hyperlink" Target="https://sdgs.un.org/goals" TargetMode="External"/><Relationship Id="rId11"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 name="Picture 4" descr="C:\Documents and Settings\sachin.arondekar\Desktop\NMIMSLogo.PNG"/>
          <p:cNvPicPr/>
          <p:nvPr/>
        </p:nvPicPr>
        <p:blipFill>
          <a:blip r:embed="rId1"/>
          <a:stretch/>
        </p:blipFill>
        <p:spPr>
          <a:xfrm>
            <a:off x="3886200" y="2666880"/>
            <a:ext cx="1371600" cy="1076400"/>
          </a:xfrm>
          <a:prstGeom prst="rect">
            <a:avLst/>
          </a:prstGeom>
          <a:noFill/>
          <a:ln w="38160">
            <a:noFill/>
          </a:ln>
        </p:spPr>
      </p:pic>
      <p:sp>
        <p:nvSpPr>
          <p:cNvPr id="9" name="Text Box 7"/>
          <p:cNvSpPr/>
          <p:nvPr/>
        </p:nvSpPr>
        <p:spPr>
          <a:xfrm>
            <a:off x="2076120" y="4276440"/>
            <a:ext cx="4991400" cy="1952640"/>
          </a:xfrm>
          <a:prstGeom prst="rect">
            <a:avLst/>
          </a:prstGeom>
          <a:noFill/>
          <a:ln w="75960">
            <a:solidFill>
              <a:srgbClr val="622423"/>
            </a:solidFill>
            <a:miter/>
          </a:ln>
        </p:spPr>
        <p:style>
          <a:lnRef idx="0"/>
          <a:fillRef idx="0"/>
          <a:effectRef idx="0"/>
          <a:fontRef idx="minor"/>
        </p:style>
        <p:txBody>
          <a:bodyPr lIns="137160" tIns="91440" rIns="137160" bIns="91440" anchor="ctr">
            <a:normAutofit/>
          </a:bodyPr>
          <a:p>
            <a:pPr algn="ctr">
              <a:spcAft>
                <a:spcPts val="79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b="1" u="none" strike="noStrike">
                <a:solidFill>
                  <a:srgbClr val="000000"/>
                </a:solidFill>
                <a:effectLst/>
                <a:uFillTx/>
                <a:latin typeface="Calibri"/>
              </a:rPr>
              <a:t>SVKM’s NMIMS</a:t>
            </a:r>
            <a:endParaRPr lang="en-US" sz="1400" b="0" u="none" strike="noStrike">
              <a:solidFill>
                <a:srgbClr val="000000"/>
              </a:solidFill>
              <a:effectLst/>
              <a:uFillTx/>
              <a:latin typeface="Calibri"/>
            </a:endParaRPr>
          </a:p>
          <a:p>
            <a:pPr algn="ctr">
              <a:spcAft>
                <a:spcPts val="79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b="1" u="none" strike="noStrike">
                <a:solidFill>
                  <a:srgbClr val="000000"/>
                </a:solidFill>
                <a:effectLst/>
                <a:uFillTx/>
                <a:latin typeface="Calibri"/>
              </a:rPr>
              <a:t>Mukesh Patel School of Technology Management and Engineering, Vile Parle, Mumbai- 400056</a:t>
            </a:r>
            <a:endParaRPr lang="en-US" sz="1400" b="0" u="none" strike="noStrike">
              <a:solidFill>
                <a:srgbClr val="000000"/>
              </a:solidFill>
              <a:effectLst/>
              <a:uFillTx/>
              <a:latin typeface="Calibri"/>
            </a:endParaRPr>
          </a:p>
          <a:p>
            <a:pPr algn="ctr">
              <a:spcAft>
                <a:spcPts val="79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Calibri"/>
            </a:endParaRPr>
          </a:p>
          <a:p>
            <a:pPr algn="ctr">
              <a:spcAft>
                <a:spcPts val="799"/>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400" b="1" u="none" strike="noStrike">
                <a:solidFill>
                  <a:srgbClr val="000000"/>
                </a:solidFill>
                <a:effectLst/>
                <a:uFillTx/>
                <a:latin typeface="Calibri"/>
              </a:rPr>
              <a:t>Department of Artificial Intelligence</a:t>
            </a:r>
            <a:endParaRPr lang="en-US" sz="1400" b="0" u="none" strike="noStrike">
              <a:solidFill>
                <a:srgbClr val="000000"/>
              </a:solidFill>
              <a:effectLst/>
              <a:uFillTx/>
              <a:latin typeface="Calibri"/>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400" b="0" u="none" strike="noStrike">
              <a:solidFill>
                <a:srgbClr val="000000"/>
              </a:solidFill>
              <a:effectLst/>
              <a:uFillTx/>
              <a:latin typeface="Calibri"/>
            </a:endParaRPr>
          </a:p>
        </p:txBody>
      </p:sp>
      <p:sp>
        <p:nvSpPr>
          <p:cNvPr id="10" name="Date Placeholder 1"/>
          <p:cNvSpPr/>
          <p:nvPr/>
        </p:nvSpPr>
        <p:spPr>
          <a:xfrm>
            <a:off x="457200" y="6356160"/>
            <a:ext cx="2133360" cy="365040"/>
          </a:xfrm>
          <a:prstGeom prst="rect">
            <a:avLst/>
          </a:prstGeom>
          <a:noFill/>
          <a:ln w="38160">
            <a:noFill/>
          </a:ln>
        </p:spPr>
        <p:style>
          <a:lnRef idx="0"/>
          <a:fillRef idx="0"/>
          <a:effectRef idx="0"/>
          <a:fontRef idx="minor"/>
        </p:style>
        <p:txBody>
          <a:bodyPr lIns="90000" tIns="46800" rIns="90000" bIns="46800" anchor="ctr">
            <a:noAutofit/>
          </a:bodyPr>
          <a:p>
            <a:r>
              <a:rPr sz="1100" b="0">
                <a:solidFill>
                  <a:srgbClr val="888888"/>
                </a:solidFill>
                <a:latin typeface="Calibri"/>
              </a:rPr>
              <a:t>30/10/2026</a:t>
            </a:r>
          </a:p>
        </p:txBody>
      </p:sp>
      <p:sp>
        <p:nvSpPr>
          <p:cNvPr id="11" name="Slide Number Placeholder 2"/>
          <p:cNvSpPr/>
          <p:nvPr/>
        </p:nvSpPr>
        <p:spPr>
          <a:xfrm>
            <a:off x="6553080" y="6356160"/>
            <a:ext cx="2133720" cy="365040"/>
          </a:xfrm>
          <a:prstGeom prst="rect">
            <a:avLst/>
          </a:prstGeom>
          <a:noFill/>
          <a:ln w="38160">
            <a:noFill/>
          </a:ln>
        </p:spPr>
        <p:style>
          <a:lnRef idx="0"/>
          <a:fillRef idx="0"/>
          <a:effectRef idx="0"/>
          <a:fontRef idx="minor"/>
        </p:style>
        <p:txBody>
          <a:bodyPr lIns="90000" tIns="46800" rIns="90000" bIns="46800" anchor="ctr">
            <a:normAutofit/>
          </a:bodyPr>
          <a:p>
            <a:r>
              <a:rPr sz="1100" b="0">
                <a:solidFill>
                  <a:srgbClr val="888888"/>
                </a:solidFill>
                <a:latin typeface="Calibri"/>
              </a:rPr>
              <a:t>1</a:t>
            </a:r>
          </a:p>
        </p:txBody>
      </p:sp>
      <p:sp>
        <p:nvSpPr>
          <p:cNvPr id="12" name="TextBox 11"/>
          <p:cNvSpPr txBox="1"/>
          <p:nvPr/>
        </p:nvSpPr>
        <p:spPr>
          <a:xfrm>
            <a:off x="304495" y="594360"/>
            <a:ext cx="8382304" cy="457200"/>
          </a:xfrm>
          <a:prstGeom prst="rect">
            <a:avLst/>
          </a:prstGeom>
          <a:noFill/>
        </p:spPr>
        <p:txBody>
          <a:bodyPr wrap="square" lIns="36576" rIns="36576" tIns="27432" bIns="0">
            <a:spAutoFit/>
          </a:bodyPr>
          <a:lstStyle/>
          <a:p>
            <a:pPr algn="ctr">
              <a:spcAft>
                <a:spcPts val="600"/>
              </a:spcAft>
            </a:pPr>
            <a:r>
              <a:rPr sz="2800" b="1">
                <a:solidFill>
                  <a:srgbClr val="000000"/>
                </a:solidFill>
                <a:latin typeface="Times New Roman"/>
              </a:rPr>
              <a:t>Bachelor of Technology</a:t>
            </a:r>
          </a:p>
        </p:txBody>
      </p:sp>
      <p:sp>
        <p:nvSpPr>
          <p:cNvPr id="13" name="TextBox 12"/>
          <p:cNvSpPr txBox="1"/>
          <p:nvPr/>
        </p:nvSpPr>
        <p:spPr>
          <a:xfrm>
            <a:off x="304495" y="1325880"/>
            <a:ext cx="8382304" cy="292608"/>
          </a:xfrm>
          <a:prstGeom prst="rect">
            <a:avLst/>
          </a:prstGeom>
          <a:noFill/>
        </p:spPr>
        <p:txBody>
          <a:bodyPr wrap="square" lIns="36576" rIns="36576" tIns="27432" bIns="0">
            <a:spAutoFit/>
          </a:bodyPr>
          <a:lstStyle/>
          <a:p>
            <a:pPr algn="ctr">
              <a:spcAft>
                <a:spcPts val="600"/>
              </a:spcAft>
            </a:pPr>
            <a:r>
              <a:rPr sz="1800" b="1">
                <a:solidFill>
                  <a:srgbClr val="000000"/>
                </a:solidFill>
                <a:latin typeface="Times New Roman"/>
              </a:rPr>
              <a:t>Internship/Project</a:t>
            </a:r>
          </a:p>
        </p:txBody>
      </p:sp>
      <p:sp>
        <p:nvSpPr>
          <p:cNvPr id="14" name="TextBox 13"/>
          <p:cNvSpPr txBox="1"/>
          <p:nvPr/>
        </p:nvSpPr>
        <p:spPr>
          <a:xfrm>
            <a:off x="304495" y="1618488"/>
            <a:ext cx="8382304" cy="292608"/>
          </a:xfrm>
          <a:prstGeom prst="rect">
            <a:avLst/>
          </a:prstGeom>
          <a:noFill/>
        </p:spPr>
        <p:txBody>
          <a:bodyPr wrap="square" lIns="36576" rIns="36576" tIns="27432" bIns="0">
            <a:spAutoFit/>
          </a:bodyPr>
          <a:lstStyle/>
          <a:p>
            <a:pPr algn="ctr">
              <a:spcAft>
                <a:spcPts val="600"/>
              </a:spcAft>
            </a:pPr>
            <a:r>
              <a:rPr sz="1800" b="1">
                <a:solidFill>
                  <a:srgbClr val="000000"/>
                </a:solidFill>
                <a:latin typeface="Times New Roman"/>
              </a:rPr>
              <a:t>Final Presentation</a:t>
            </a:r>
          </a:p>
        </p:txBody>
      </p:sp>
      <p:sp>
        <p:nvSpPr>
          <p:cNvPr id="15" name="TextBox 14"/>
          <p:cNvSpPr txBox="1"/>
          <p:nvPr/>
        </p:nvSpPr>
        <p:spPr>
          <a:xfrm>
            <a:off x="304495" y="2112264"/>
            <a:ext cx="8382304" cy="246888"/>
          </a:xfrm>
          <a:prstGeom prst="rect">
            <a:avLst/>
          </a:prstGeom>
          <a:noFill/>
        </p:spPr>
        <p:txBody>
          <a:bodyPr wrap="square" lIns="36576" rIns="36576" tIns="27432" bIns="0">
            <a:spAutoFit/>
          </a:bodyPr>
          <a:lstStyle/>
          <a:p>
            <a:pPr algn="ctr">
              <a:spcAft>
                <a:spcPts val="600"/>
              </a:spcAft>
            </a:pPr>
            <a:r>
              <a:rPr sz="1400" b="1">
                <a:solidFill>
                  <a:srgbClr val="000000"/>
                </a:solidFill>
                <a:latin typeface="Times New Roman"/>
              </a:rPr>
              <a:t>Academic Year 2026–27</a:t>
            </a:r>
          </a:p>
        </p:txBody>
      </p:sp>
      <p:sp>
        <p:nvSpPr>
          <p:cNvPr id="16" name="TextBox 15"/>
          <p:cNvSpPr txBox="1"/>
          <p:nvPr/>
        </p:nvSpPr>
        <p:spPr>
          <a:xfrm>
            <a:off x="304495" y="2359152"/>
            <a:ext cx="8382304" cy="246888"/>
          </a:xfrm>
          <a:prstGeom prst="rect">
            <a:avLst/>
          </a:prstGeom>
          <a:noFill/>
        </p:spPr>
        <p:txBody>
          <a:bodyPr wrap="square" lIns="36576" rIns="36576" tIns="27432" bIns="0">
            <a:spAutoFit/>
          </a:bodyPr>
          <a:lstStyle/>
          <a:p>
            <a:pPr algn="ctr">
              <a:spcAft>
                <a:spcPts val="600"/>
              </a:spcAft>
            </a:pPr>
            <a:r>
              <a:rPr sz="1400" b="1">
                <a:solidFill>
                  <a:srgbClr val="000000"/>
                </a:solidFill>
                <a:latin typeface="Times New Roman"/>
              </a:rPr>
              <a:t>Semester VIII</a:t>
            </a: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Date Placeholder 1"/>
          <p:cNvSpPr/>
          <p:nvPr/>
        </p:nvSpPr>
        <p:spPr>
          <a:xfrm>
            <a:off x="457200" y="6356160"/>
            <a:ext cx="2133360" cy="365040"/>
          </a:xfrm>
          <a:prstGeom prst="rect">
            <a:avLst/>
          </a:prstGeom>
          <a:noFill/>
          <a:ln w="38160">
            <a:noFill/>
          </a:ln>
        </p:spPr>
        <p:style>
          <a:lnRef idx="0"/>
          <a:fillRef idx="0"/>
          <a:effectRef idx="0"/>
          <a:fontRef idx="minor"/>
        </p:style>
        <p:txBody>
          <a:bodyPr lIns="90000" tIns="46800" rIns="90000" bIns="46800" anchor="ctr">
            <a:noAutofit/>
          </a:bodyPr>
          <a:p>
            <a:r>
              <a:rPr sz="1100" b="0">
                <a:solidFill>
                  <a:srgbClr val="888888"/>
                </a:solidFill>
                <a:latin typeface="Calibri"/>
              </a:rPr>
              <a:t>30/10/2026</a:t>
            </a:r>
          </a:p>
        </p:txBody>
      </p:sp>
      <p:sp>
        <p:nvSpPr>
          <p:cNvPr id="14" name="Slide Number Placeholder 2"/>
          <p:cNvSpPr/>
          <p:nvPr/>
        </p:nvSpPr>
        <p:spPr>
          <a:xfrm>
            <a:off x="6553080" y="6356160"/>
            <a:ext cx="2133720" cy="365040"/>
          </a:xfrm>
          <a:prstGeom prst="rect">
            <a:avLst/>
          </a:prstGeom>
          <a:noFill/>
          <a:ln w="38160">
            <a:noFill/>
          </a:ln>
        </p:spPr>
        <p:style>
          <a:lnRef idx="0"/>
          <a:fillRef idx="0"/>
          <a:effectRef idx="0"/>
          <a:fontRef idx="minor"/>
        </p:style>
        <p:txBody>
          <a:bodyPr lIns="90000" tIns="46800" rIns="90000" bIns="46800" anchor="ctr">
            <a:normAutofit/>
          </a:bodyPr>
          <a:p>
            <a:r>
              <a:rPr sz="1100" b="0">
                <a:solidFill>
                  <a:srgbClr val="888888"/>
                </a:solidFill>
                <a:latin typeface="Calibri"/>
              </a:rPr>
              <a:t>2</a:t>
            </a:r>
          </a:p>
        </p:txBody>
      </p:sp>
      <p:sp>
        <p:nvSpPr>
          <p:cNvPr id="15" name="TextBox 14"/>
          <p:cNvSpPr txBox="1"/>
          <p:nvPr/>
        </p:nvSpPr>
        <p:spPr>
          <a:xfrm>
            <a:off x="594360" y="658368"/>
            <a:ext cx="7955279" cy="384048"/>
          </a:xfrm>
          <a:prstGeom prst="rect">
            <a:avLst/>
          </a:prstGeom>
          <a:noFill/>
        </p:spPr>
        <p:txBody>
          <a:bodyPr wrap="square" lIns="36576" rIns="36576" tIns="27432" bIns="0">
            <a:spAutoFit/>
          </a:bodyPr>
          <a:lstStyle/>
          <a:p>
            <a:pPr algn="ctr">
              <a:spcAft>
                <a:spcPts val="600"/>
              </a:spcAft>
            </a:pPr>
            <a:r>
              <a:rPr sz="2000" b="1">
                <a:solidFill>
                  <a:srgbClr val="000000"/>
                </a:solidFill>
                <a:latin typeface="Times New Roman"/>
              </a:rPr>
              <a:t>A  PRESENTATION  ON</a:t>
            </a:r>
          </a:p>
        </p:txBody>
      </p:sp>
      <p:sp>
        <p:nvSpPr>
          <p:cNvPr id="16" name="TextBox 15"/>
          <p:cNvSpPr txBox="1"/>
          <p:nvPr/>
        </p:nvSpPr>
        <p:spPr>
          <a:xfrm>
            <a:off x="594360" y="1234440"/>
            <a:ext cx="7955279" cy="1051560"/>
          </a:xfrm>
          <a:prstGeom prst="rect">
            <a:avLst/>
          </a:prstGeom>
          <a:noFill/>
        </p:spPr>
        <p:txBody>
          <a:bodyPr wrap="square" lIns="36576" rIns="36576" tIns="27432" bIns="0">
            <a:spAutoFit/>
          </a:bodyPr>
          <a:lstStyle/>
          <a:p>
            <a:pPr algn="ctr">
              <a:spcAft>
                <a:spcPts val="600"/>
              </a:spcAft>
            </a:pPr>
            <a:r>
              <a:rPr sz="2500" b="1">
                <a:solidFill>
                  <a:srgbClr val="000000"/>
                </a:solidFill>
                <a:latin typeface="Times New Roman"/>
              </a:rPr>
              <a:t>SELF-DRIVING MINI CAR</a:t>
            </a:r>
          </a:p>
          <a:p>
            <a:pPr algn="ctr">
              <a:spcAft>
                <a:spcPts val="600"/>
              </a:spcAft>
            </a:pPr>
            <a:r>
              <a:rPr sz="2500" b="1">
                <a:solidFill>
                  <a:srgbClr val="000000"/>
                </a:solidFill>
                <a:latin typeface="Times New Roman"/>
              </a:rPr>
              <a:t>Lane Detection, Obstacle Avoidance and</a:t>
            </a:r>
          </a:p>
          <a:p>
            <a:pPr algn="ctr">
              <a:spcAft>
                <a:spcPts val="600"/>
              </a:spcAft>
            </a:pPr>
            <a:r>
              <a:rPr sz="2500" b="1">
                <a:solidFill>
                  <a:srgbClr val="000000"/>
                </a:solidFill>
                <a:latin typeface="Times New Roman"/>
              </a:rPr>
              <a:t>Traffic Sign Recognition</a:t>
            </a:r>
          </a:p>
        </p:txBody>
      </p:sp>
      <p:sp>
        <p:nvSpPr>
          <p:cNvPr id="17" name="TextBox 16"/>
          <p:cNvSpPr txBox="1"/>
          <p:nvPr/>
        </p:nvSpPr>
        <p:spPr>
          <a:xfrm>
            <a:off x="594360" y="2468880"/>
            <a:ext cx="7955279" cy="320040"/>
          </a:xfrm>
          <a:prstGeom prst="rect">
            <a:avLst/>
          </a:prstGeom>
          <a:noFill/>
        </p:spPr>
        <p:txBody>
          <a:bodyPr wrap="square" lIns="36576" rIns="36576" tIns="27432" bIns="0">
            <a:spAutoFit/>
          </a:bodyPr>
          <a:lstStyle/>
          <a:p>
            <a:pPr algn="ctr">
              <a:spcAft>
                <a:spcPts val="600"/>
              </a:spcAft>
            </a:pPr>
            <a:r>
              <a:rPr sz="1800" b="0">
                <a:solidFill>
                  <a:srgbClr val="000000"/>
                </a:solidFill>
                <a:latin typeface="Times New Roman"/>
              </a:rPr>
              <a:t>By</a:t>
            </a:r>
          </a:p>
        </p:txBody>
      </p:sp>
      <p:sp>
        <p:nvSpPr>
          <p:cNvPr id="18" name="TextBox 17"/>
          <p:cNvSpPr txBox="1"/>
          <p:nvPr/>
        </p:nvSpPr>
        <p:spPr>
          <a:xfrm>
            <a:off x="548640" y="2834640"/>
            <a:ext cx="8046720" cy="1051560"/>
          </a:xfrm>
          <a:prstGeom prst="rect">
            <a:avLst/>
          </a:prstGeom>
          <a:noFill/>
        </p:spPr>
        <p:txBody>
          <a:bodyPr wrap="square" lIns="36576" rIns="36576" tIns="27432" bIns="0">
            <a:spAutoFit/>
          </a:bodyPr>
          <a:lstStyle/>
          <a:p>
            <a:pPr algn="ctr">
              <a:spcAft>
                <a:spcPts val="600"/>
              </a:spcAft>
            </a:pPr>
            <a:r>
              <a:rPr sz="1800" b="1">
                <a:solidFill>
                  <a:srgbClr val="000000"/>
                </a:solidFill>
                <a:latin typeface="Times New Roman"/>
              </a:rPr>
              <a:t>Krishna Menon   |   I045   |   SAP: 70122300036</a:t>
            </a:r>
          </a:p>
          <a:p>
            <a:pPr algn="ctr">
              <a:spcAft>
                <a:spcPts val="600"/>
              </a:spcAft>
            </a:pPr>
            <a:r>
              <a:rPr sz="1800" b="1">
                <a:solidFill>
                  <a:srgbClr val="000000"/>
                </a:solidFill>
                <a:latin typeface="Times New Roman"/>
              </a:rPr>
              <a:t>Aditya Rana   |   I059   |   SAP: 70122300063</a:t>
            </a:r>
          </a:p>
          <a:p>
            <a:pPr algn="ctr">
              <a:spcAft>
                <a:spcPts val="600"/>
              </a:spcAft>
            </a:pPr>
            <a:r>
              <a:rPr sz="1800" b="1">
                <a:solidFill>
                  <a:srgbClr val="000000"/>
                </a:solidFill>
                <a:latin typeface="Times New Roman"/>
              </a:rPr>
              <a:t>Parth Surve   |   I076   |   SAP: 70122300089</a:t>
            </a:r>
          </a:p>
        </p:txBody>
      </p:sp>
      <p:sp>
        <p:nvSpPr>
          <p:cNvPr id="19" name="TextBox 18"/>
          <p:cNvSpPr txBox="1"/>
          <p:nvPr/>
        </p:nvSpPr>
        <p:spPr>
          <a:xfrm>
            <a:off x="594360" y="4206240"/>
            <a:ext cx="7955279" cy="320040"/>
          </a:xfrm>
          <a:prstGeom prst="rect">
            <a:avLst/>
          </a:prstGeom>
          <a:noFill/>
        </p:spPr>
        <p:txBody>
          <a:bodyPr wrap="square" lIns="36576" rIns="36576" tIns="27432" bIns="0">
            <a:spAutoFit/>
          </a:bodyPr>
          <a:lstStyle/>
          <a:p>
            <a:pPr algn="ctr">
              <a:spcAft>
                <a:spcPts val="600"/>
              </a:spcAft>
            </a:pPr>
            <a:r>
              <a:rPr sz="1800" b="0">
                <a:solidFill>
                  <a:srgbClr val="000000"/>
                </a:solidFill>
                <a:latin typeface="Times New Roman"/>
              </a:rPr>
              <a:t>Under the guidance of</a:t>
            </a:r>
          </a:p>
        </p:txBody>
      </p:sp>
      <p:sp>
        <p:nvSpPr>
          <p:cNvPr id="20" name="TextBox 19"/>
          <p:cNvSpPr txBox="1"/>
          <p:nvPr/>
        </p:nvSpPr>
        <p:spPr>
          <a:xfrm>
            <a:off x="594360" y="4709160"/>
            <a:ext cx="7955279" cy="777240"/>
          </a:xfrm>
          <a:prstGeom prst="rect">
            <a:avLst/>
          </a:prstGeom>
          <a:noFill/>
        </p:spPr>
        <p:txBody>
          <a:bodyPr wrap="square" lIns="36576" rIns="36576" tIns="27432" bIns="0">
            <a:spAutoFit/>
          </a:bodyPr>
          <a:lstStyle/>
          <a:p>
            <a:pPr algn="ctr">
              <a:spcAft>
                <a:spcPts val="600"/>
              </a:spcAft>
            </a:pPr>
            <a:r>
              <a:rPr sz="2000" b="1">
                <a:solidFill>
                  <a:srgbClr val="000000"/>
                </a:solidFill>
                <a:latin typeface="Times New Roman"/>
              </a:rPr>
              <a:t>Dr. Hima Deepthi Vankayalapati</a:t>
            </a:r>
          </a:p>
          <a:p>
            <a:pPr algn="ctr">
              <a:spcAft>
                <a:spcPts val="600"/>
              </a:spcAft>
            </a:pPr>
            <a:r>
              <a:rPr sz="2000" b="1">
                <a:solidFill>
                  <a:srgbClr val="000000"/>
                </a:solidFill>
                <a:latin typeface="Times New Roman"/>
              </a:rPr>
              <a:t>Department of Artificial Intelligence</a:t>
            </a:r>
          </a:p>
        </p:txBody>
      </p:sp>
      <p:sp>
        <p:nvSpPr>
          <p:cNvPr id="21" name="Rounded Rectangle 20"/>
          <p:cNvSpPr/>
          <p:nvPr/>
        </p:nvSpPr>
        <p:spPr>
          <a:xfrm>
            <a:off x="960120" y="5596128"/>
            <a:ext cx="2148840" cy="274320"/>
          </a:xfrm>
          <a:prstGeom prst="roundRect">
            <a:avLst>
              <a:gd name="adj" fmla="val 10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5609844"/>
            <a:ext cx="2075688"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PERCEPTION</a:t>
            </a:r>
          </a:p>
        </p:txBody>
      </p:sp>
      <p:sp>
        <p:nvSpPr>
          <p:cNvPr id="23" name="Rounded Rectangle 22"/>
          <p:cNvSpPr/>
          <p:nvPr/>
        </p:nvSpPr>
        <p:spPr>
          <a:xfrm>
            <a:off x="3502152" y="5596128"/>
            <a:ext cx="2148840" cy="274320"/>
          </a:xfrm>
          <a:prstGeom prst="roundRect">
            <a:avLst>
              <a:gd name="adj" fmla="val 10000"/>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38728" y="5609844"/>
            <a:ext cx="2075688"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DECISION</a:t>
            </a:r>
          </a:p>
        </p:txBody>
      </p:sp>
      <p:sp>
        <p:nvSpPr>
          <p:cNvPr id="25" name="Rounded Rectangle 24"/>
          <p:cNvSpPr/>
          <p:nvPr/>
        </p:nvSpPr>
        <p:spPr>
          <a:xfrm>
            <a:off x="6035040" y="5596128"/>
            <a:ext cx="2148840" cy="274320"/>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71616" y="5609844"/>
            <a:ext cx="2075688"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CONTROL</a:t>
            </a: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Introduction and Problem Statement</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THE PROJECT AT A GLANCE  /  SEE THE TRACK • CHOOSE AN ACTION • MOVE</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3</a:t>
            </a:r>
          </a:p>
        </p:txBody>
      </p:sp>
      <p:sp>
        <p:nvSpPr>
          <p:cNvPr id="7" name="Rounded Rectangle 6"/>
          <p:cNvSpPr/>
          <p:nvPr/>
        </p:nvSpPr>
        <p:spPr>
          <a:xfrm>
            <a:off x="612648" y="1344168"/>
            <a:ext cx="3538728" cy="3941063"/>
          </a:xfrm>
          <a:prstGeom prst="roundRect">
            <a:avLst>
              <a:gd name="adj" fmla="val 10000"/>
            </a:avLst>
          </a:prstGeom>
          <a:solidFill>
            <a:srgbClr val="EA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llustrated component — chassis" descr="component_illustrations.png"/>
          <p:cNvPicPr>
            <a:picLocks noChangeAspect="1"/>
          </p:cNvPicPr>
          <p:nvPr/>
        </p:nvPicPr>
        <p:blipFill>
          <a:blip r:embed="rId4"/>
          <a:srcRect l="66667" t="50000"/>
          <a:stretch>
            <a:fillRect/>
          </a:stretch>
        </p:blipFill>
        <p:spPr>
          <a:xfrm>
            <a:off x="685800" y="1563624"/>
            <a:ext cx="3392424" cy="3392424"/>
          </a:xfrm>
          <a:prstGeom prst="rect">
            <a:avLst/>
          </a:prstGeom>
        </p:spPr>
      </p:pic>
      <p:sp>
        <p:nvSpPr>
          <p:cNvPr id="9" name="TextBox 8"/>
          <p:cNvSpPr txBox="1"/>
          <p:nvPr/>
        </p:nvSpPr>
        <p:spPr>
          <a:xfrm>
            <a:off x="859536" y="4590288"/>
            <a:ext cx="3044952" cy="429768"/>
          </a:xfrm>
          <a:prstGeom prst="rect">
            <a:avLst/>
          </a:prstGeom>
          <a:noFill/>
        </p:spPr>
        <p:txBody>
          <a:bodyPr wrap="square" lIns="22860" rIns="22860" tIns="13716" bIns="0">
            <a:spAutoFit/>
          </a:bodyPr>
          <a:lstStyle/>
          <a:p>
            <a:pPr algn="ctr">
              <a:spcAft>
                <a:spcPts val="300"/>
              </a:spcAft>
            </a:pPr>
            <a:r>
              <a:rPr sz="1800" b="1">
                <a:solidFill>
                  <a:srgbClr val="16354B"/>
                </a:solidFill>
                <a:latin typeface="Times New Roman"/>
              </a:rPr>
              <a:t>A small autonomy testbed</a:t>
            </a:r>
          </a:p>
        </p:txBody>
      </p:sp>
      <p:sp>
        <p:nvSpPr>
          <p:cNvPr id="10" name="TextBox 9"/>
          <p:cNvSpPr txBox="1"/>
          <p:nvPr/>
        </p:nvSpPr>
        <p:spPr>
          <a:xfrm>
            <a:off x="896112" y="5001768"/>
            <a:ext cx="2971800" cy="228600"/>
          </a:xfrm>
          <a:prstGeom prst="rect">
            <a:avLst/>
          </a:prstGeom>
          <a:noFill/>
        </p:spPr>
        <p:txBody>
          <a:bodyPr wrap="square" lIns="22860" rIns="22860" tIns="13716" bIns="0">
            <a:spAutoFit/>
          </a:bodyPr>
          <a:lstStyle/>
          <a:p>
            <a:pPr algn="ctr">
              <a:spcAft>
                <a:spcPts val="300"/>
              </a:spcAft>
            </a:pPr>
            <a:r>
              <a:rPr sz="1200" b="0">
                <a:solidFill>
                  <a:srgbClr val="536775"/>
                </a:solidFill>
                <a:latin typeface="Times New Roman"/>
              </a:rPr>
              <a:t>Concept illustration • skid-steer drive</a:t>
            </a:r>
          </a:p>
        </p:txBody>
      </p:sp>
      <p:sp>
        <p:nvSpPr>
          <p:cNvPr id="11" name="TextBox 10"/>
          <p:cNvSpPr txBox="1"/>
          <p:nvPr/>
        </p:nvSpPr>
        <p:spPr>
          <a:xfrm>
            <a:off x="4471416" y="1389888"/>
            <a:ext cx="3941063" cy="804672"/>
          </a:xfrm>
          <a:prstGeom prst="rect">
            <a:avLst/>
          </a:prstGeom>
          <a:noFill/>
        </p:spPr>
        <p:txBody>
          <a:bodyPr wrap="square" lIns="22860" rIns="22860" tIns="13716" bIns="0">
            <a:spAutoFit/>
          </a:bodyPr>
          <a:lstStyle/>
          <a:p>
            <a:pPr algn="l">
              <a:spcAft>
                <a:spcPts val="300"/>
              </a:spcAft>
            </a:pPr>
            <a:r>
              <a:rPr sz="2100" b="1">
                <a:solidFill>
                  <a:srgbClr val="16354B"/>
                </a:solidFill>
                <a:latin typeface="Times New Roman"/>
              </a:rPr>
              <a:t>How do we turn what the</a:t>
            </a:r>
          </a:p>
          <a:p>
            <a:pPr algn="l">
              <a:spcAft>
                <a:spcPts val="300"/>
              </a:spcAft>
            </a:pPr>
            <a:r>
              <a:rPr sz="2100" b="1">
                <a:solidFill>
                  <a:srgbClr val="16354B"/>
                </a:solidFill>
                <a:latin typeface="Times New Roman"/>
              </a:rPr>
              <a:t>camera sees into useful motion?</a:t>
            </a:r>
          </a:p>
        </p:txBody>
      </p:sp>
      <p:pic>
        <p:nvPicPr>
          <p:cNvPr id="12" name="Illustrated component — camera" descr="component_illustrations.png"/>
          <p:cNvPicPr>
            <a:picLocks noChangeAspect="1"/>
          </p:cNvPicPr>
          <p:nvPr/>
        </p:nvPicPr>
        <p:blipFill>
          <a:blip r:embed="rId4"/>
          <a:srcRect r="66667" t="50000"/>
          <a:stretch>
            <a:fillRect/>
          </a:stretch>
        </p:blipFill>
        <p:spPr>
          <a:xfrm>
            <a:off x="4489704" y="2322576"/>
            <a:ext cx="795528" cy="795528"/>
          </a:xfrm>
          <a:prstGeom prst="rect">
            <a:avLst/>
          </a:prstGeom>
        </p:spPr>
      </p:pic>
      <p:sp>
        <p:nvSpPr>
          <p:cNvPr id="13" name="TextBox 12"/>
          <p:cNvSpPr txBox="1"/>
          <p:nvPr/>
        </p:nvSpPr>
        <p:spPr>
          <a:xfrm>
            <a:off x="5431536" y="2450592"/>
            <a:ext cx="2980944" cy="292608"/>
          </a:xfrm>
          <a:prstGeom prst="rect">
            <a:avLst/>
          </a:prstGeom>
          <a:noFill/>
        </p:spPr>
        <p:txBody>
          <a:bodyPr wrap="square" lIns="22860" rIns="22860" tIns="13716" bIns="0">
            <a:spAutoFit/>
          </a:bodyPr>
          <a:lstStyle/>
          <a:p>
            <a:pPr algn="l">
              <a:spcAft>
                <a:spcPts val="300"/>
              </a:spcAft>
            </a:pPr>
            <a:r>
              <a:rPr sz="1800" b="1">
                <a:solidFill>
                  <a:srgbClr val="087F8C"/>
                </a:solidFill>
                <a:latin typeface="Times New Roman"/>
              </a:rPr>
              <a:t>Perceive</a:t>
            </a:r>
          </a:p>
        </p:txBody>
      </p:sp>
      <p:sp>
        <p:nvSpPr>
          <p:cNvPr id="14" name="TextBox 13"/>
          <p:cNvSpPr txBox="1"/>
          <p:nvPr/>
        </p:nvSpPr>
        <p:spPr>
          <a:xfrm>
            <a:off x="5431536" y="2807208"/>
            <a:ext cx="2980944" cy="56692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Read lanes, signs and visual hazards.</a:t>
            </a:r>
          </a:p>
        </p:txBody>
      </p:sp>
      <p:pic>
        <p:nvPicPr>
          <p:cNvPr id="15" name="Illustrated component — pi" descr="component_illustrations.png"/>
          <p:cNvPicPr>
            <a:picLocks noChangeAspect="1"/>
          </p:cNvPicPr>
          <p:nvPr/>
        </p:nvPicPr>
        <p:blipFill>
          <a:blip r:embed="rId4"/>
          <a:srcRect r="66667" b="50000"/>
          <a:stretch>
            <a:fillRect/>
          </a:stretch>
        </p:blipFill>
        <p:spPr>
          <a:xfrm>
            <a:off x="4489704" y="3273552"/>
            <a:ext cx="795528" cy="795528"/>
          </a:xfrm>
          <a:prstGeom prst="rect">
            <a:avLst/>
          </a:prstGeom>
        </p:spPr>
      </p:pic>
      <p:sp>
        <p:nvSpPr>
          <p:cNvPr id="16" name="TextBox 15"/>
          <p:cNvSpPr txBox="1"/>
          <p:nvPr/>
        </p:nvSpPr>
        <p:spPr>
          <a:xfrm>
            <a:off x="5431536" y="3401568"/>
            <a:ext cx="2980944" cy="292608"/>
          </a:xfrm>
          <a:prstGeom prst="rect">
            <a:avLst/>
          </a:prstGeom>
          <a:noFill/>
        </p:spPr>
        <p:txBody>
          <a:bodyPr wrap="square" lIns="22860" rIns="22860" tIns="13716" bIns="0">
            <a:spAutoFit/>
          </a:bodyPr>
          <a:lstStyle/>
          <a:p>
            <a:pPr algn="l">
              <a:spcAft>
                <a:spcPts val="300"/>
              </a:spcAft>
            </a:pPr>
            <a:r>
              <a:rPr sz="1800" b="1">
                <a:solidFill>
                  <a:srgbClr val="355CBC"/>
                </a:solidFill>
                <a:latin typeface="Times New Roman"/>
              </a:rPr>
              <a:t>Decide</a:t>
            </a:r>
          </a:p>
        </p:txBody>
      </p:sp>
      <p:sp>
        <p:nvSpPr>
          <p:cNvPr id="17" name="TextBox 16"/>
          <p:cNvSpPr txBox="1"/>
          <p:nvPr/>
        </p:nvSpPr>
        <p:spPr>
          <a:xfrm>
            <a:off x="5431536" y="3758184"/>
            <a:ext cx="2980944" cy="56692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Resolve instructions and safety priorities.</a:t>
            </a:r>
          </a:p>
        </p:txBody>
      </p:sp>
      <p:pic>
        <p:nvPicPr>
          <p:cNvPr id="18" name="Illustrated component — uno" descr="component_illustrations.png"/>
          <p:cNvPicPr>
            <a:picLocks noChangeAspect="1"/>
          </p:cNvPicPr>
          <p:nvPr/>
        </p:nvPicPr>
        <p:blipFill>
          <a:blip r:embed="rId4"/>
          <a:srcRect l="33933" r="33333" b="50000"/>
          <a:stretch>
            <a:fillRect/>
          </a:stretch>
        </p:blipFill>
        <p:spPr>
          <a:xfrm>
            <a:off x="4489704" y="4224528"/>
            <a:ext cx="795528" cy="795528"/>
          </a:xfrm>
          <a:prstGeom prst="rect">
            <a:avLst/>
          </a:prstGeom>
        </p:spPr>
      </p:pic>
      <p:sp>
        <p:nvSpPr>
          <p:cNvPr id="19" name="TextBox 18"/>
          <p:cNvSpPr txBox="1"/>
          <p:nvPr/>
        </p:nvSpPr>
        <p:spPr>
          <a:xfrm>
            <a:off x="5431536" y="4352544"/>
            <a:ext cx="2980944" cy="292608"/>
          </a:xfrm>
          <a:prstGeom prst="rect">
            <a:avLst/>
          </a:prstGeom>
          <a:noFill/>
        </p:spPr>
        <p:txBody>
          <a:bodyPr wrap="square" lIns="22860" rIns="22860" tIns="13716" bIns="0">
            <a:spAutoFit/>
          </a:bodyPr>
          <a:lstStyle/>
          <a:p>
            <a:pPr algn="l">
              <a:spcAft>
                <a:spcPts val="300"/>
              </a:spcAft>
            </a:pPr>
            <a:r>
              <a:rPr sz="1800" b="1">
                <a:solidFill>
                  <a:srgbClr val="622423"/>
                </a:solidFill>
                <a:latin typeface="Times New Roman"/>
              </a:rPr>
              <a:t>Act</a:t>
            </a:r>
          </a:p>
        </p:txBody>
      </p:sp>
      <p:sp>
        <p:nvSpPr>
          <p:cNvPr id="20" name="TextBox 19"/>
          <p:cNvSpPr txBox="1"/>
          <p:nvPr/>
        </p:nvSpPr>
        <p:spPr>
          <a:xfrm>
            <a:off x="5431536" y="4709159"/>
            <a:ext cx="2980944" cy="56692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Execute motor commands and report state.</a:t>
            </a:r>
          </a:p>
        </p:txBody>
      </p:sp>
      <p:sp>
        <p:nvSpPr>
          <p:cNvPr id="21" name="Rounded Rectangle 20"/>
          <p:cNvSpPr/>
          <p:nvPr/>
        </p:nvSpPr>
        <p:spPr>
          <a:xfrm>
            <a:off x="548640" y="5513832"/>
            <a:ext cx="8046720" cy="347472"/>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Tools: Python / OpenCV • YOLO / NCNN • Picamera2 / pyserial • Uno C++</a:t>
            </a:r>
          </a:p>
        </p:txBody>
      </p:sp>
      <p:sp>
        <p:nvSpPr>
          <p:cNvPr id="23" name="TextBox 22"/>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final report Ch. 1/3; Krishna main 9aeb238. Hardware shown here is conceptual illustration, not prototype photography.</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Literature Review and Research Gap</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WHAT PRIOR WORK ENABLES  /  DETECTION • TRACKING • ACCESSIBLE ROBOTICS</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4</a:t>
            </a:r>
          </a:p>
        </p:txBody>
      </p:sp>
      <p:sp>
        <p:nvSpPr>
          <p:cNvPr id="7" name="Rounded Rectangle 6"/>
          <p:cNvSpPr/>
          <p:nvPr/>
        </p:nvSpPr>
        <p:spPr>
          <a:xfrm>
            <a:off x="630936" y="1371600"/>
            <a:ext cx="2487168" cy="38313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0936" y="1371600"/>
            <a:ext cx="2487168" cy="54864"/>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28416" y="1371600"/>
            <a:ext cx="2487168" cy="38313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28416" y="1371600"/>
            <a:ext cx="2487168" cy="54864"/>
          </a:xfrm>
          <a:prstGeom prst="rect">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25896" y="1371600"/>
            <a:ext cx="2487168" cy="383133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25896" y="1371600"/>
            <a:ext cx="2487168" cy="54864"/>
          </a:xfrm>
          <a:prstGeom prst="rect">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val_batch0_pred.jpg"/>
          <p:cNvPicPr>
            <a:picLocks noChangeAspect="1"/>
          </p:cNvPicPr>
          <p:nvPr/>
        </p:nvPicPr>
        <p:blipFill>
          <a:blip r:embed="rId3"/>
          <a:srcRect l="75000" b="75000"/>
          <a:stretch>
            <a:fillRect/>
          </a:stretch>
        </p:blipFill>
        <p:spPr>
          <a:xfrm>
            <a:off x="804672" y="1600200"/>
            <a:ext cx="2139696" cy="1682496"/>
          </a:xfrm>
          <a:prstGeom prst="rect">
            <a:avLst/>
          </a:prstGeom>
        </p:spPr>
      </p:pic>
      <p:sp>
        <p:nvSpPr>
          <p:cNvPr id="14" name="TextBox 13"/>
          <p:cNvSpPr txBox="1"/>
          <p:nvPr/>
        </p:nvSpPr>
        <p:spPr>
          <a:xfrm>
            <a:off x="813816" y="3456432"/>
            <a:ext cx="2130552" cy="320040"/>
          </a:xfrm>
          <a:prstGeom prst="rect">
            <a:avLst/>
          </a:prstGeom>
          <a:noFill/>
        </p:spPr>
        <p:txBody>
          <a:bodyPr wrap="square" lIns="22860" rIns="22860" tIns="13716" bIns="0">
            <a:spAutoFit/>
          </a:bodyPr>
          <a:lstStyle/>
          <a:p>
            <a:pPr algn="l">
              <a:spcAft>
                <a:spcPts val="300"/>
              </a:spcAft>
            </a:pPr>
            <a:r>
              <a:rPr sz="1900" b="1">
                <a:solidFill>
                  <a:srgbClr val="087F8C"/>
                </a:solidFill>
                <a:latin typeface="Times New Roman"/>
              </a:rPr>
              <a:t>Learned detection</a:t>
            </a:r>
          </a:p>
        </p:txBody>
      </p:sp>
      <p:sp>
        <p:nvSpPr>
          <p:cNvPr id="15" name="TextBox 14"/>
          <p:cNvSpPr txBox="1"/>
          <p:nvPr/>
        </p:nvSpPr>
        <p:spPr>
          <a:xfrm>
            <a:off x="813816" y="3886200"/>
            <a:ext cx="2130552" cy="475488"/>
          </a:xfrm>
          <a:prstGeom prst="rect">
            <a:avLst/>
          </a:prstGeom>
          <a:noFill/>
        </p:spPr>
        <p:txBody>
          <a:bodyPr wrap="square" lIns="22860" rIns="22860" tIns="13716" bIns="0">
            <a:spAutoFit/>
          </a:bodyPr>
          <a:lstStyle/>
          <a:p>
            <a:pPr algn="l">
              <a:spcAft>
                <a:spcPts val="300"/>
              </a:spcAft>
            </a:pPr>
            <a:r>
              <a:rPr sz="1400" b="1">
                <a:solidFill>
                  <a:srgbClr val="172D3C"/>
                </a:solidFill>
                <a:latin typeface="Times New Roman"/>
              </a:rPr>
              <a:t>YOLOv10 + RDD2022 [1,3]</a:t>
            </a:r>
          </a:p>
        </p:txBody>
      </p:sp>
      <p:sp>
        <p:nvSpPr>
          <p:cNvPr id="16" name="TextBox 15"/>
          <p:cNvSpPr txBox="1"/>
          <p:nvPr/>
        </p:nvSpPr>
        <p:spPr>
          <a:xfrm>
            <a:off x="813816" y="4471416"/>
            <a:ext cx="2130552" cy="61264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Use compact detectors;</a:t>
            </a:r>
          </a:p>
          <a:p>
            <a:pPr algn="l">
              <a:spcAft>
                <a:spcPts val="300"/>
              </a:spcAft>
            </a:pPr>
            <a:r>
              <a:rPr sz="1500" b="0">
                <a:solidFill>
                  <a:srgbClr val="172D3C"/>
                </a:solidFill>
                <a:latin typeface="Times New Roman"/>
              </a:rPr>
              <a:t>check the data domain.</a:t>
            </a:r>
          </a:p>
        </p:txBody>
      </p:sp>
      <p:sp>
        <p:nvSpPr>
          <p:cNvPr id="17" name="Rounded Rectangle 16"/>
          <p:cNvSpPr/>
          <p:nvPr/>
        </p:nvSpPr>
        <p:spPr>
          <a:xfrm>
            <a:off x="3547872" y="1600200"/>
            <a:ext cx="2048256" cy="1682496"/>
          </a:xfrm>
          <a:prstGeom prst="roundRect">
            <a:avLst>
              <a:gd name="adj" fmla="val 10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98264" y="1856231"/>
            <a:ext cx="301752" cy="301752"/>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4553712" y="2167128"/>
            <a:ext cx="0" cy="521208"/>
          </a:xfrm>
          <a:prstGeom prst="line">
            <a:avLst/>
          </a:prstGeom>
          <a:ln w="38100">
            <a:solidFill>
              <a:srgbClr val="355CB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61104" y="2340864"/>
            <a:ext cx="576072" cy="0"/>
          </a:xfrm>
          <a:prstGeom prst="line">
            <a:avLst/>
          </a:prstGeom>
          <a:ln w="38100">
            <a:solidFill>
              <a:srgbClr val="355CB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288536" y="2688336"/>
            <a:ext cx="265176" cy="301752"/>
          </a:xfrm>
          <a:prstGeom prst="line">
            <a:avLst/>
          </a:prstGeom>
          <a:ln w="38100">
            <a:solidFill>
              <a:srgbClr val="355CB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553712" y="2688336"/>
            <a:ext cx="265176" cy="301752"/>
          </a:xfrm>
          <a:prstGeom prst="line">
            <a:avLst/>
          </a:prstGeom>
          <a:ln w="38100">
            <a:solidFill>
              <a:srgbClr val="355CB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059936" y="1783080"/>
            <a:ext cx="0" cy="73151"/>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59936" y="1783080"/>
            <a:ext cx="155448"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910328" y="1783080"/>
            <a:ext cx="155448"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065776" y="1783080"/>
            <a:ext cx="0" cy="155448"/>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59936" y="2944368"/>
            <a:ext cx="0" cy="164592"/>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059936" y="3108960"/>
            <a:ext cx="155448"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10328" y="3108960"/>
            <a:ext cx="155448" cy="0"/>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065776" y="2944368"/>
            <a:ext cx="0" cy="164592"/>
          </a:xfrm>
          <a:prstGeom prst="line">
            <a:avLst/>
          </a:prstGeom>
          <a:ln w="25400">
            <a:solidFill>
              <a:srgbClr val="087F8C"/>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511296" y="3456432"/>
            <a:ext cx="2130552" cy="320040"/>
          </a:xfrm>
          <a:prstGeom prst="rect">
            <a:avLst/>
          </a:prstGeom>
          <a:noFill/>
        </p:spPr>
        <p:txBody>
          <a:bodyPr wrap="square" lIns="22860" rIns="22860" tIns="13716" bIns="0">
            <a:spAutoFit/>
          </a:bodyPr>
          <a:lstStyle/>
          <a:p>
            <a:pPr algn="l">
              <a:spcAft>
                <a:spcPts val="300"/>
              </a:spcAft>
            </a:pPr>
            <a:r>
              <a:rPr sz="1900" b="1">
                <a:solidFill>
                  <a:srgbClr val="355CBC"/>
                </a:solidFill>
                <a:latin typeface="Times New Roman"/>
              </a:rPr>
              <a:t>Efficient tracking</a:t>
            </a:r>
          </a:p>
        </p:txBody>
      </p:sp>
      <p:sp>
        <p:nvSpPr>
          <p:cNvPr id="32" name="TextBox 31"/>
          <p:cNvSpPr txBox="1"/>
          <p:nvPr/>
        </p:nvSpPr>
        <p:spPr>
          <a:xfrm>
            <a:off x="3511296" y="3886200"/>
            <a:ext cx="2130552" cy="475488"/>
          </a:xfrm>
          <a:prstGeom prst="rect">
            <a:avLst/>
          </a:prstGeom>
          <a:noFill/>
        </p:spPr>
        <p:txBody>
          <a:bodyPr wrap="square" lIns="22860" rIns="22860" tIns="13716" bIns="0">
            <a:spAutoFit/>
          </a:bodyPr>
          <a:lstStyle/>
          <a:p>
            <a:pPr algn="l">
              <a:spcAft>
                <a:spcPts val="300"/>
              </a:spcAft>
            </a:pPr>
            <a:r>
              <a:rPr sz="1400" b="1">
                <a:solidFill>
                  <a:srgbClr val="172D3C"/>
                </a:solidFill>
                <a:latin typeface="Times New Roman"/>
              </a:rPr>
              <a:t>KCF owner tracking [2]</a:t>
            </a:r>
          </a:p>
        </p:txBody>
      </p:sp>
      <p:sp>
        <p:nvSpPr>
          <p:cNvPr id="33" name="TextBox 32"/>
          <p:cNvSpPr txBox="1"/>
          <p:nvPr/>
        </p:nvSpPr>
        <p:spPr>
          <a:xfrm>
            <a:off x="3511296" y="4471416"/>
            <a:ext cx="2130552" cy="61264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Track between detections;</a:t>
            </a:r>
          </a:p>
          <a:p>
            <a:pPr algn="l">
              <a:spcAft>
                <a:spcPts val="300"/>
              </a:spcAft>
            </a:pPr>
            <a:r>
              <a:rPr sz="1500" b="0">
                <a:solidFill>
                  <a:srgbClr val="172D3C"/>
                </a:solidFill>
                <a:latin typeface="Times New Roman"/>
              </a:rPr>
              <a:t>recover after target loss.</a:t>
            </a:r>
          </a:p>
        </p:txBody>
      </p:sp>
      <p:pic>
        <p:nvPicPr>
          <p:cNvPr id="34" name="Illustrated component — pi" descr="component_illustrations.png"/>
          <p:cNvPicPr>
            <a:picLocks noChangeAspect="1"/>
          </p:cNvPicPr>
          <p:nvPr/>
        </p:nvPicPr>
        <p:blipFill>
          <a:blip r:embed="rId4"/>
          <a:srcRect r="66667" b="50000"/>
          <a:stretch>
            <a:fillRect/>
          </a:stretch>
        </p:blipFill>
        <p:spPr>
          <a:xfrm>
            <a:off x="6126480" y="1554480"/>
            <a:ext cx="1280160" cy="1280160"/>
          </a:xfrm>
          <a:prstGeom prst="rect">
            <a:avLst/>
          </a:prstGeom>
        </p:spPr>
      </p:pic>
      <p:pic>
        <p:nvPicPr>
          <p:cNvPr id="35" name="Illustrated component — uno" descr="component_illustrations.png"/>
          <p:cNvPicPr>
            <a:picLocks noChangeAspect="1"/>
          </p:cNvPicPr>
          <p:nvPr/>
        </p:nvPicPr>
        <p:blipFill>
          <a:blip r:embed="rId4"/>
          <a:srcRect l="33933" r="33333" b="50000"/>
          <a:stretch>
            <a:fillRect/>
          </a:stretch>
        </p:blipFill>
        <p:spPr>
          <a:xfrm>
            <a:off x="7040880" y="1975104"/>
            <a:ext cx="1280160" cy="1280160"/>
          </a:xfrm>
          <a:prstGeom prst="rect">
            <a:avLst/>
          </a:prstGeom>
        </p:spPr>
      </p:pic>
      <p:sp>
        <p:nvSpPr>
          <p:cNvPr id="36" name="TextBox 35"/>
          <p:cNvSpPr txBox="1"/>
          <p:nvPr/>
        </p:nvSpPr>
        <p:spPr>
          <a:xfrm>
            <a:off x="6208776" y="3456432"/>
            <a:ext cx="2130552" cy="320040"/>
          </a:xfrm>
          <a:prstGeom prst="rect">
            <a:avLst/>
          </a:prstGeom>
          <a:noFill/>
        </p:spPr>
        <p:txBody>
          <a:bodyPr wrap="square" lIns="22860" rIns="22860" tIns="13716" bIns="0">
            <a:spAutoFit/>
          </a:bodyPr>
          <a:lstStyle/>
          <a:p>
            <a:pPr algn="l">
              <a:spcAft>
                <a:spcPts val="300"/>
              </a:spcAft>
            </a:pPr>
            <a:r>
              <a:rPr sz="1800" b="1">
                <a:solidFill>
                  <a:srgbClr val="622423"/>
                </a:solidFill>
                <a:latin typeface="Times New Roman"/>
              </a:rPr>
              <a:t>Accessible robotics</a:t>
            </a:r>
          </a:p>
        </p:txBody>
      </p:sp>
      <p:sp>
        <p:nvSpPr>
          <p:cNvPr id="37" name="TextBox 36"/>
          <p:cNvSpPr txBox="1"/>
          <p:nvPr/>
        </p:nvSpPr>
        <p:spPr>
          <a:xfrm>
            <a:off x="6208776" y="3886200"/>
            <a:ext cx="2130552" cy="475488"/>
          </a:xfrm>
          <a:prstGeom prst="rect">
            <a:avLst/>
          </a:prstGeom>
          <a:noFill/>
        </p:spPr>
        <p:txBody>
          <a:bodyPr wrap="square" lIns="22860" rIns="22860" tIns="13716" bIns="0">
            <a:spAutoFit/>
          </a:bodyPr>
          <a:lstStyle/>
          <a:p>
            <a:pPr algn="l">
              <a:spcAft>
                <a:spcPts val="300"/>
              </a:spcAft>
            </a:pPr>
            <a:r>
              <a:rPr sz="1400" b="1">
                <a:solidFill>
                  <a:srgbClr val="172D3C"/>
                </a:solidFill>
                <a:latin typeface="Times New Roman"/>
              </a:rPr>
              <a:t>OpenBot + Duckietown [4,5]</a:t>
            </a:r>
          </a:p>
        </p:txBody>
      </p:sp>
      <p:sp>
        <p:nvSpPr>
          <p:cNvPr id="38" name="TextBox 37"/>
          <p:cNvSpPr txBox="1"/>
          <p:nvPr/>
        </p:nvSpPr>
        <p:spPr>
          <a:xfrm>
            <a:off x="6208776" y="4471416"/>
            <a:ext cx="2130552" cy="61264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Keep the platform modular</a:t>
            </a:r>
          </a:p>
          <a:p>
            <a:pPr algn="l">
              <a:spcAft>
                <a:spcPts val="300"/>
              </a:spcAft>
            </a:pPr>
            <a:r>
              <a:rPr sz="1500" b="0">
                <a:solidFill>
                  <a:srgbClr val="172D3C"/>
                </a:solidFill>
                <a:latin typeface="Times New Roman"/>
              </a:rPr>
              <a:t>and the workflow reproducible.</a:t>
            </a:r>
          </a:p>
        </p:txBody>
      </p:sp>
      <p:sp>
        <p:nvSpPr>
          <p:cNvPr id="39" name="Rounded Rectangle 38"/>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Project contribution: connect these methods through clear decisions and embedded execution.</a:t>
            </a:r>
          </a:p>
        </p:txBody>
      </p:sp>
      <p:sp>
        <p:nvSpPr>
          <p:cNvPr id="41" name="TextBox 40"/>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[1–5] on slide 16. Detection image: repository validation crop. Person and board visuals are conceptual illustrations.</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System Architecture / Block Diagram</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ILLUSTRATED ARCHITECTURE  /  FOLLOW THE CAMERA-TO-MOTOR PATH</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5</a:t>
            </a:r>
          </a:p>
        </p:txBody>
      </p:sp>
      <p:sp>
        <p:nvSpPr>
          <p:cNvPr id="7" name="Rounded Rectangle 6"/>
          <p:cNvSpPr/>
          <p:nvPr/>
        </p:nvSpPr>
        <p:spPr>
          <a:xfrm>
            <a:off x="2212848" y="1353312"/>
            <a:ext cx="2011680" cy="2715768"/>
          </a:xfrm>
          <a:prstGeom prst="roundRect">
            <a:avLst>
              <a:gd name="adj" fmla="val 10000"/>
            </a:avLst>
          </a:prstGeom>
          <a:solidFill>
            <a:srgbClr val="EA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53712" y="1353312"/>
            <a:ext cx="2011680" cy="2715768"/>
          </a:xfrm>
          <a:prstGeom prst="roundRect">
            <a:avLst>
              <a:gd name="adj" fmla="val 10000"/>
            </a:avLst>
          </a:prstGeom>
          <a:solidFill>
            <a:srgbClr val="F3E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490472"/>
            <a:ext cx="18288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PERCEPTION / DECISION</a:t>
            </a:r>
          </a:p>
        </p:txBody>
      </p:sp>
      <p:sp>
        <p:nvSpPr>
          <p:cNvPr id="10" name="TextBox 9"/>
          <p:cNvSpPr txBox="1"/>
          <p:nvPr/>
        </p:nvSpPr>
        <p:spPr>
          <a:xfrm>
            <a:off x="4681728" y="1490472"/>
            <a:ext cx="1828800" cy="219456"/>
          </a:xfrm>
          <a:prstGeom prst="rect">
            <a:avLst/>
          </a:prstGeom>
          <a:noFill/>
        </p:spPr>
        <p:txBody>
          <a:bodyPr wrap="square" lIns="22860" rIns="22860" tIns="13716" bIns="0">
            <a:spAutoFit/>
          </a:bodyPr>
          <a:lstStyle/>
          <a:p>
            <a:pPr algn="l">
              <a:spcAft>
                <a:spcPts val="300"/>
              </a:spcAft>
            </a:pPr>
            <a:r>
              <a:rPr sz="1100" b="1">
                <a:solidFill>
                  <a:srgbClr val="622423"/>
                </a:solidFill>
                <a:latin typeface="Times New Roman"/>
              </a:rPr>
              <a:t>EMBEDDED CONTROL</a:t>
            </a:r>
          </a:p>
        </p:txBody>
      </p:sp>
      <p:pic>
        <p:nvPicPr>
          <p:cNvPr id="11" name="Illustrated component — camera" descr="component_illustrations.png"/>
          <p:cNvPicPr>
            <a:picLocks noChangeAspect="1"/>
          </p:cNvPicPr>
          <p:nvPr/>
        </p:nvPicPr>
        <p:blipFill>
          <a:blip r:embed="rId3"/>
          <a:srcRect r="66667" t="50000"/>
          <a:stretch>
            <a:fillRect/>
          </a:stretch>
        </p:blipFill>
        <p:spPr>
          <a:xfrm>
            <a:off x="512064" y="1947672"/>
            <a:ext cx="1481328" cy="1481328"/>
          </a:xfrm>
          <a:prstGeom prst="rect">
            <a:avLst/>
          </a:prstGeom>
        </p:spPr>
      </p:pic>
      <p:pic>
        <p:nvPicPr>
          <p:cNvPr id="12" name="Illustrated component — pi" descr="component_illustrations.png"/>
          <p:cNvPicPr>
            <a:picLocks noChangeAspect="1"/>
          </p:cNvPicPr>
          <p:nvPr/>
        </p:nvPicPr>
        <p:blipFill>
          <a:blip r:embed="rId3"/>
          <a:srcRect r="66667" b="50000"/>
          <a:stretch>
            <a:fillRect/>
          </a:stretch>
        </p:blipFill>
        <p:spPr>
          <a:xfrm>
            <a:off x="2267712" y="1810512"/>
            <a:ext cx="1920240" cy="1920240"/>
          </a:xfrm>
          <a:prstGeom prst="rect">
            <a:avLst/>
          </a:prstGeom>
        </p:spPr>
      </p:pic>
      <p:pic>
        <p:nvPicPr>
          <p:cNvPr id="13" name="Illustrated component — uno" descr="component_illustrations.png"/>
          <p:cNvPicPr>
            <a:picLocks noChangeAspect="1"/>
          </p:cNvPicPr>
          <p:nvPr/>
        </p:nvPicPr>
        <p:blipFill>
          <a:blip r:embed="rId3"/>
          <a:srcRect l="33933" r="33333" b="50000"/>
          <a:stretch>
            <a:fillRect/>
          </a:stretch>
        </p:blipFill>
        <p:spPr>
          <a:xfrm>
            <a:off x="4590288" y="1810512"/>
            <a:ext cx="1920240" cy="1920240"/>
          </a:xfrm>
          <a:prstGeom prst="rect">
            <a:avLst/>
          </a:prstGeom>
        </p:spPr>
      </p:pic>
      <p:pic>
        <p:nvPicPr>
          <p:cNvPr id="14" name="Illustrated component — driver" descr="component_illustrations.png"/>
          <p:cNvPicPr>
            <a:picLocks noChangeAspect="1"/>
          </p:cNvPicPr>
          <p:nvPr/>
        </p:nvPicPr>
        <p:blipFill>
          <a:blip r:embed="rId3"/>
          <a:srcRect l="66667" b="50000"/>
          <a:stretch>
            <a:fillRect/>
          </a:stretch>
        </p:blipFill>
        <p:spPr>
          <a:xfrm>
            <a:off x="6931152" y="1856231"/>
            <a:ext cx="1581912" cy="1581912"/>
          </a:xfrm>
          <a:prstGeom prst="rect">
            <a:avLst/>
          </a:prstGeom>
        </p:spPr>
      </p:pic>
      <p:cxnSp>
        <p:nvCxnSpPr>
          <p:cNvPr id="15" name="Connector 14"/>
          <p:cNvCxnSpPr/>
          <p:nvPr/>
        </p:nvCxnSpPr>
        <p:spPr>
          <a:xfrm>
            <a:off x="1901952" y="2724912"/>
            <a:ext cx="374904" cy="0"/>
          </a:xfrm>
          <a:prstGeom prst="line">
            <a:avLst/>
          </a:prstGeom>
          <a:ln w="25400">
            <a:solidFill>
              <a:srgbClr val="087F8C"/>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105656" y="2724912"/>
            <a:ext cx="557784" cy="0"/>
          </a:xfrm>
          <a:prstGeom prst="line">
            <a:avLst/>
          </a:prstGeom>
          <a:ln w="25400">
            <a:solidFill>
              <a:srgbClr val="355CB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437376" y="2724912"/>
            <a:ext cx="530352" cy="0"/>
          </a:xfrm>
          <a:prstGeom prst="line">
            <a:avLst/>
          </a:prstGeom>
          <a:ln w="25400">
            <a:solidFill>
              <a:srgbClr val="62242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114800" y="3127248"/>
            <a:ext cx="539496" cy="0"/>
          </a:xfrm>
          <a:prstGeom prst="line">
            <a:avLst/>
          </a:prstGeom>
          <a:ln w="17780">
            <a:solidFill>
              <a:srgbClr val="C48A16"/>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114800" y="3236976"/>
            <a:ext cx="548640" cy="210312"/>
          </a:xfrm>
          <a:prstGeom prst="rect">
            <a:avLst/>
          </a:prstGeom>
          <a:noFill/>
        </p:spPr>
        <p:txBody>
          <a:bodyPr wrap="square" lIns="22860" rIns="22860" tIns="13716" bIns="0">
            <a:spAutoFit/>
          </a:bodyPr>
          <a:lstStyle/>
          <a:p>
            <a:pPr algn="ctr">
              <a:spcAft>
                <a:spcPts val="300"/>
              </a:spcAft>
            </a:pPr>
            <a:r>
              <a:rPr sz="950" b="1">
                <a:solidFill>
                  <a:srgbClr val="C48A16"/>
                </a:solidFill>
                <a:latin typeface="Times New Roman"/>
              </a:rPr>
              <a:t>state</a:t>
            </a:r>
          </a:p>
        </p:txBody>
      </p:sp>
      <p:sp>
        <p:nvSpPr>
          <p:cNvPr id="20" name="TextBox 19"/>
          <p:cNvSpPr txBox="1"/>
          <p:nvPr/>
        </p:nvSpPr>
        <p:spPr>
          <a:xfrm>
            <a:off x="521207" y="3547872"/>
            <a:ext cx="1463040" cy="347472"/>
          </a:xfrm>
          <a:prstGeom prst="rect">
            <a:avLst/>
          </a:prstGeom>
          <a:noFill/>
        </p:spPr>
        <p:txBody>
          <a:bodyPr wrap="square" lIns="22860" rIns="22860" tIns="13716" bIns="0">
            <a:spAutoFit/>
          </a:bodyPr>
          <a:lstStyle/>
          <a:p>
            <a:pPr algn="ctr">
              <a:spcAft>
                <a:spcPts val="300"/>
              </a:spcAft>
            </a:pPr>
            <a:r>
              <a:rPr sz="1650" b="1">
                <a:solidFill>
                  <a:srgbClr val="087F8C"/>
                </a:solidFill>
                <a:latin typeface="Times New Roman"/>
              </a:rPr>
              <a:t>CSI camera</a:t>
            </a:r>
          </a:p>
        </p:txBody>
      </p:sp>
      <p:sp>
        <p:nvSpPr>
          <p:cNvPr id="21" name="TextBox 20"/>
          <p:cNvSpPr txBox="1"/>
          <p:nvPr/>
        </p:nvSpPr>
        <p:spPr>
          <a:xfrm>
            <a:off x="521207" y="3895344"/>
            <a:ext cx="1463040" cy="237744"/>
          </a:xfrm>
          <a:prstGeom prst="rect">
            <a:avLst/>
          </a:prstGeom>
          <a:noFill/>
        </p:spPr>
        <p:txBody>
          <a:bodyPr wrap="square" lIns="22860" rIns="22860" tIns="13716" bIns="0">
            <a:spAutoFit/>
          </a:bodyPr>
          <a:lstStyle/>
          <a:p>
            <a:pPr algn="ctr">
              <a:spcAft>
                <a:spcPts val="300"/>
              </a:spcAft>
            </a:pPr>
            <a:r>
              <a:rPr sz="1280" b="0">
                <a:solidFill>
                  <a:srgbClr val="536775"/>
                </a:solidFill>
                <a:latin typeface="Times New Roman"/>
              </a:rPr>
              <a:t>Live frames</a:t>
            </a:r>
          </a:p>
        </p:txBody>
      </p:sp>
      <p:sp>
        <p:nvSpPr>
          <p:cNvPr id="22" name="TextBox 21"/>
          <p:cNvSpPr txBox="1"/>
          <p:nvPr/>
        </p:nvSpPr>
        <p:spPr>
          <a:xfrm>
            <a:off x="2322576" y="3547872"/>
            <a:ext cx="1847088" cy="347472"/>
          </a:xfrm>
          <a:prstGeom prst="rect">
            <a:avLst/>
          </a:prstGeom>
          <a:noFill/>
        </p:spPr>
        <p:txBody>
          <a:bodyPr wrap="square" lIns="22860" rIns="22860" tIns="13716" bIns="0">
            <a:spAutoFit/>
          </a:bodyPr>
          <a:lstStyle/>
          <a:p>
            <a:pPr algn="ctr">
              <a:spcAft>
                <a:spcPts val="300"/>
              </a:spcAft>
            </a:pPr>
            <a:r>
              <a:rPr sz="1650" b="1">
                <a:solidFill>
                  <a:srgbClr val="087F8C"/>
                </a:solidFill>
                <a:latin typeface="Times New Roman"/>
              </a:rPr>
              <a:t>Raspberry Pi</a:t>
            </a:r>
          </a:p>
        </p:txBody>
      </p:sp>
      <p:sp>
        <p:nvSpPr>
          <p:cNvPr id="23" name="TextBox 22"/>
          <p:cNvSpPr txBox="1"/>
          <p:nvPr/>
        </p:nvSpPr>
        <p:spPr>
          <a:xfrm>
            <a:off x="2322576" y="3895344"/>
            <a:ext cx="1847088" cy="237744"/>
          </a:xfrm>
          <a:prstGeom prst="rect">
            <a:avLst/>
          </a:prstGeom>
          <a:noFill/>
        </p:spPr>
        <p:txBody>
          <a:bodyPr wrap="square" lIns="22860" rIns="22860" tIns="13716" bIns="0">
            <a:spAutoFit/>
          </a:bodyPr>
          <a:lstStyle/>
          <a:p>
            <a:pPr algn="ctr">
              <a:spcAft>
                <a:spcPts val="300"/>
              </a:spcAft>
            </a:pPr>
            <a:r>
              <a:rPr sz="1280" b="0">
                <a:solidFill>
                  <a:srgbClr val="536775"/>
                </a:solidFill>
                <a:latin typeface="Times New Roman"/>
              </a:rPr>
              <a:t>See + decide</a:t>
            </a:r>
          </a:p>
        </p:txBody>
      </p:sp>
      <p:sp>
        <p:nvSpPr>
          <p:cNvPr id="24" name="TextBox 23"/>
          <p:cNvSpPr txBox="1"/>
          <p:nvPr/>
        </p:nvSpPr>
        <p:spPr>
          <a:xfrm>
            <a:off x="4645152" y="3547872"/>
            <a:ext cx="1847088" cy="347472"/>
          </a:xfrm>
          <a:prstGeom prst="rect">
            <a:avLst/>
          </a:prstGeom>
          <a:noFill/>
        </p:spPr>
        <p:txBody>
          <a:bodyPr wrap="square" lIns="22860" rIns="22860" tIns="13716" bIns="0">
            <a:spAutoFit/>
          </a:bodyPr>
          <a:lstStyle/>
          <a:p>
            <a:pPr algn="ctr">
              <a:spcAft>
                <a:spcPts val="300"/>
              </a:spcAft>
            </a:pPr>
            <a:r>
              <a:rPr sz="1650" b="1">
                <a:solidFill>
                  <a:srgbClr val="622423"/>
                </a:solidFill>
                <a:latin typeface="Times New Roman"/>
              </a:rPr>
              <a:t>Arduino Uno</a:t>
            </a:r>
          </a:p>
        </p:txBody>
      </p:sp>
      <p:sp>
        <p:nvSpPr>
          <p:cNvPr id="25" name="TextBox 24"/>
          <p:cNvSpPr txBox="1"/>
          <p:nvPr/>
        </p:nvSpPr>
        <p:spPr>
          <a:xfrm>
            <a:off x="4645152" y="3895344"/>
            <a:ext cx="1847088" cy="237744"/>
          </a:xfrm>
          <a:prstGeom prst="rect">
            <a:avLst/>
          </a:prstGeom>
          <a:noFill/>
        </p:spPr>
        <p:txBody>
          <a:bodyPr wrap="square" lIns="22860" rIns="22860" tIns="13716" bIns="0">
            <a:spAutoFit/>
          </a:bodyPr>
          <a:lstStyle/>
          <a:p>
            <a:pPr algn="ctr">
              <a:spcAft>
                <a:spcPts val="300"/>
              </a:spcAft>
            </a:pPr>
            <a:r>
              <a:rPr sz="1280" b="0">
                <a:solidFill>
                  <a:srgbClr val="536775"/>
                </a:solidFill>
                <a:latin typeface="Times New Roman"/>
              </a:rPr>
              <a:t>Sense + execute</a:t>
            </a:r>
          </a:p>
        </p:txBody>
      </p:sp>
      <p:sp>
        <p:nvSpPr>
          <p:cNvPr id="26" name="TextBox 25"/>
          <p:cNvSpPr txBox="1"/>
          <p:nvPr/>
        </p:nvSpPr>
        <p:spPr>
          <a:xfrm>
            <a:off x="6940296" y="3547872"/>
            <a:ext cx="1563624" cy="347472"/>
          </a:xfrm>
          <a:prstGeom prst="rect">
            <a:avLst/>
          </a:prstGeom>
          <a:noFill/>
        </p:spPr>
        <p:txBody>
          <a:bodyPr wrap="square" lIns="22860" rIns="22860" tIns="13716" bIns="0">
            <a:spAutoFit/>
          </a:bodyPr>
          <a:lstStyle/>
          <a:p>
            <a:pPr algn="ctr">
              <a:spcAft>
                <a:spcPts val="300"/>
              </a:spcAft>
            </a:pPr>
            <a:r>
              <a:rPr sz="1650" b="1">
                <a:solidFill>
                  <a:srgbClr val="622423"/>
                </a:solidFill>
                <a:latin typeface="Times New Roman"/>
              </a:rPr>
              <a:t>L298N driver</a:t>
            </a:r>
          </a:p>
        </p:txBody>
      </p:sp>
      <p:sp>
        <p:nvSpPr>
          <p:cNvPr id="27" name="TextBox 26"/>
          <p:cNvSpPr txBox="1"/>
          <p:nvPr/>
        </p:nvSpPr>
        <p:spPr>
          <a:xfrm>
            <a:off x="6940296" y="3895344"/>
            <a:ext cx="1563624" cy="237744"/>
          </a:xfrm>
          <a:prstGeom prst="rect">
            <a:avLst/>
          </a:prstGeom>
          <a:noFill/>
        </p:spPr>
        <p:txBody>
          <a:bodyPr wrap="square" lIns="22860" rIns="22860" tIns="13716" bIns="0">
            <a:spAutoFit/>
          </a:bodyPr>
          <a:lstStyle/>
          <a:p>
            <a:pPr algn="ctr">
              <a:spcAft>
                <a:spcPts val="300"/>
              </a:spcAft>
            </a:pPr>
            <a:r>
              <a:rPr sz="1280" b="0">
                <a:solidFill>
                  <a:srgbClr val="536775"/>
                </a:solidFill>
                <a:latin typeface="Times New Roman"/>
              </a:rPr>
              <a:t>Motor power</a:t>
            </a:r>
          </a:p>
        </p:txBody>
      </p:sp>
      <p:sp>
        <p:nvSpPr>
          <p:cNvPr id="28" name="TextBox 27"/>
          <p:cNvSpPr txBox="1"/>
          <p:nvPr/>
        </p:nvSpPr>
        <p:spPr>
          <a:xfrm>
            <a:off x="4142232" y="2148840"/>
            <a:ext cx="521207" cy="219456"/>
          </a:xfrm>
          <a:prstGeom prst="rect">
            <a:avLst/>
          </a:prstGeom>
          <a:noFill/>
        </p:spPr>
        <p:txBody>
          <a:bodyPr wrap="square" lIns="22860" rIns="22860" tIns="13716" bIns="0">
            <a:spAutoFit/>
          </a:bodyPr>
          <a:lstStyle/>
          <a:p>
            <a:pPr algn="l">
              <a:spcAft>
                <a:spcPts val="300"/>
              </a:spcAft>
            </a:pPr>
            <a:r>
              <a:rPr sz="1100" b="1">
                <a:solidFill>
                  <a:srgbClr val="355CBC"/>
                </a:solidFill>
                <a:latin typeface="Times New Roman"/>
              </a:rPr>
              <a:t>Serial</a:t>
            </a:r>
          </a:p>
        </p:txBody>
      </p:sp>
      <p:pic>
        <p:nvPicPr>
          <p:cNvPr id="29" name="Illustrated component — sonar" descr="component_illustrations.png"/>
          <p:cNvPicPr>
            <a:picLocks noChangeAspect="1"/>
          </p:cNvPicPr>
          <p:nvPr/>
        </p:nvPicPr>
        <p:blipFill>
          <a:blip r:embed="rId3"/>
          <a:srcRect l="33933" r="33333" t="50000"/>
          <a:stretch>
            <a:fillRect/>
          </a:stretch>
        </p:blipFill>
        <p:spPr>
          <a:xfrm>
            <a:off x="4773168" y="4315968"/>
            <a:ext cx="1234440" cy="1234440"/>
          </a:xfrm>
          <a:prstGeom prst="rect">
            <a:avLst/>
          </a:prstGeom>
        </p:spPr>
      </p:pic>
      <p:pic>
        <p:nvPicPr>
          <p:cNvPr id="30" name="Illustrated component — chassis" descr="component_illustrations.png"/>
          <p:cNvPicPr>
            <a:picLocks noChangeAspect="1"/>
          </p:cNvPicPr>
          <p:nvPr/>
        </p:nvPicPr>
        <p:blipFill>
          <a:blip r:embed="rId3"/>
          <a:srcRect l="66667" t="50000"/>
          <a:stretch>
            <a:fillRect/>
          </a:stretch>
        </p:blipFill>
        <p:spPr>
          <a:xfrm>
            <a:off x="6949440" y="4242816"/>
            <a:ext cx="1481328" cy="1481328"/>
          </a:xfrm>
          <a:prstGeom prst="rect">
            <a:avLst/>
          </a:prstGeom>
        </p:spPr>
      </p:pic>
      <p:cxnSp>
        <p:nvCxnSpPr>
          <p:cNvPr id="31" name="Connector 30"/>
          <p:cNvCxnSpPr/>
          <p:nvPr/>
        </p:nvCxnSpPr>
        <p:spPr>
          <a:xfrm flipV="1">
            <a:off x="5385816" y="4187952"/>
            <a:ext cx="0" cy="365760"/>
          </a:xfrm>
          <a:prstGeom prst="line">
            <a:avLst/>
          </a:prstGeom>
          <a:ln w="21590">
            <a:solidFill>
              <a:srgbClr val="C48A16"/>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803904" y="4617720"/>
            <a:ext cx="1179576" cy="530352"/>
          </a:xfrm>
          <a:prstGeom prst="rect">
            <a:avLst/>
          </a:prstGeom>
          <a:noFill/>
        </p:spPr>
        <p:txBody>
          <a:bodyPr wrap="square" lIns="22860" rIns="22860" tIns="13716" bIns="0">
            <a:spAutoFit/>
          </a:bodyPr>
          <a:lstStyle/>
          <a:p>
            <a:pPr algn="ctr">
              <a:spcAft>
                <a:spcPts val="300"/>
              </a:spcAft>
            </a:pPr>
            <a:r>
              <a:rPr sz="1300" b="1">
                <a:solidFill>
                  <a:srgbClr val="C48A16"/>
                </a:solidFill>
                <a:latin typeface="Times New Roman"/>
              </a:rPr>
              <a:t>Front sonar</a:t>
            </a:r>
          </a:p>
          <a:p>
            <a:pPr algn="ctr">
              <a:spcAft>
                <a:spcPts val="300"/>
              </a:spcAft>
            </a:pPr>
            <a:r>
              <a:rPr sz="1300" b="1">
                <a:solidFill>
                  <a:srgbClr val="C48A16"/>
                </a:solidFill>
                <a:latin typeface="Times New Roman"/>
              </a:rPr>
              <a:t>feeds Uno</a:t>
            </a:r>
          </a:p>
        </p:txBody>
      </p:sp>
      <p:cxnSp>
        <p:nvCxnSpPr>
          <p:cNvPr id="33" name="Connector 32"/>
          <p:cNvCxnSpPr/>
          <p:nvPr/>
        </p:nvCxnSpPr>
        <p:spPr>
          <a:xfrm>
            <a:off x="7726679" y="4178808"/>
            <a:ext cx="0" cy="283464"/>
          </a:xfrm>
          <a:prstGeom prst="line">
            <a:avLst/>
          </a:prstGeom>
          <a:ln w="21590">
            <a:solidFill>
              <a:srgbClr val="622423"/>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58952" y="4462272"/>
            <a:ext cx="2386584" cy="777240"/>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4581144"/>
            <a:ext cx="2084831" cy="539496"/>
          </a:xfrm>
          <a:prstGeom prst="rect">
            <a:avLst/>
          </a:prstGeom>
          <a:noFill/>
        </p:spPr>
        <p:txBody>
          <a:bodyPr wrap="square" lIns="22860" rIns="22860" tIns="13716" bIns="0">
            <a:spAutoFit/>
          </a:bodyPr>
          <a:lstStyle/>
          <a:p>
            <a:pPr algn="ctr">
              <a:spcAft>
                <a:spcPts val="300"/>
              </a:spcAft>
            </a:pPr>
            <a:r>
              <a:rPr sz="1400" b="1">
                <a:solidFill>
                  <a:srgbClr val="FFFFFF"/>
                </a:solidFill>
                <a:latin typeface="Times New Roman"/>
              </a:rPr>
              <a:t>Dashboard</a:t>
            </a:r>
          </a:p>
          <a:p>
            <a:pPr algn="ctr">
              <a:spcAft>
                <a:spcPts val="300"/>
              </a:spcAft>
            </a:pPr>
            <a:r>
              <a:rPr sz="1400" b="1">
                <a:solidFill>
                  <a:srgbClr val="FFFFFF"/>
                </a:solidFill>
                <a:latin typeface="Times New Roman"/>
              </a:rPr>
              <a:t>Live view + status</a:t>
            </a:r>
          </a:p>
        </p:txBody>
      </p:sp>
      <p:cxnSp>
        <p:nvCxnSpPr>
          <p:cNvPr id="36" name="Connector 35"/>
          <p:cNvCxnSpPr/>
          <p:nvPr/>
        </p:nvCxnSpPr>
        <p:spPr>
          <a:xfrm>
            <a:off x="3227832" y="4178808"/>
            <a:ext cx="0" cy="64008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3145536" y="4818888"/>
            <a:ext cx="82296"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548640" y="5513832"/>
            <a:ext cx="8046720" cy="347472"/>
          </a:xfrm>
          <a:prstGeom prst="roundRect">
            <a:avLst>
              <a:gd name="adj" fmla="val 10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Commands travel to Uno; telemetry returns to Pi. Sonar is read on Uno, not through Pi GPIO.</a:t>
            </a:r>
          </a:p>
        </p:txBody>
      </p:sp>
      <p:sp>
        <p:nvSpPr>
          <p:cNvPr id="40" name="TextBox 39"/>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 Krishna main 9aeb238 runtime and firmware. Component art is illustrative; arrows show functional interfaces, not physical wiring.</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Methodology / Decision and Safety Flow</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ARBITRATION  /  ONE COMMAND OWNER AT A TIME</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car/main.py; Uno motion FSM; Traffic Sign/car/main.py and TrafficSignPolicy (separate trained extension).</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6</a:t>
            </a:r>
          </a:p>
        </p:txBody>
      </p:sp>
      <p:sp>
        <p:nvSpPr>
          <p:cNvPr id="7" name="Oval 6"/>
          <p:cNvSpPr/>
          <p:nvPr/>
        </p:nvSpPr>
        <p:spPr>
          <a:xfrm>
            <a:off x="2194560" y="1307592"/>
            <a:ext cx="3017520" cy="429768"/>
          </a:xfrm>
          <a:prstGeom prst="ellipse">
            <a:avLst/>
          </a:prstGeom>
          <a:solidFill>
            <a:srgbClr val="16354B"/>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Times New Roman"/>
              </a:rPr>
              <a:t>Capture frame + telemetry</a:t>
            </a:r>
          </a:p>
        </p:txBody>
      </p:sp>
      <p:cxnSp>
        <p:nvCxnSpPr>
          <p:cNvPr id="8" name="Connector 7"/>
          <p:cNvCxnSpPr/>
          <p:nvPr/>
        </p:nvCxnSpPr>
        <p:spPr>
          <a:xfrm>
            <a:off x="3703320" y="1737360"/>
            <a:ext cx="0" cy="164592"/>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9" name="Diamond 8"/>
          <p:cNvSpPr/>
          <p:nvPr/>
        </p:nvSpPr>
        <p:spPr>
          <a:xfrm>
            <a:off x="2596896" y="1901952"/>
            <a:ext cx="2231136" cy="731520"/>
          </a:xfrm>
          <a:prstGeom prst="diamond">
            <a:avLst/>
          </a:prstGeom>
          <a:solidFill>
            <a:srgbClr val="AD334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300" b="1">
                <a:solidFill>
                  <a:srgbClr val="FFFFFF"/>
                </a:solidFill>
                <a:latin typeface="Times New Roman"/>
              </a:rPr>
              <a:t>Hazard or safety latch?</a:t>
            </a:r>
          </a:p>
        </p:txBody>
      </p:sp>
      <p:cxnSp>
        <p:nvCxnSpPr>
          <p:cNvPr id="10" name="Connector 9"/>
          <p:cNvCxnSpPr/>
          <p:nvPr/>
        </p:nvCxnSpPr>
        <p:spPr>
          <a:xfrm>
            <a:off x="4828032" y="2267712"/>
            <a:ext cx="704088" cy="0"/>
          </a:xfrm>
          <a:prstGeom prst="line">
            <a:avLst/>
          </a:prstGeom>
          <a:ln w="20320">
            <a:solidFill>
              <a:srgbClr val="AD3345"/>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937760" y="1993392"/>
            <a:ext cx="457200" cy="219456"/>
          </a:xfrm>
          <a:prstGeom prst="rect">
            <a:avLst/>
          </a:prstGeom>
          <a:noFill/>
        </p:spPr>
        <p:txBody>
          <a:bodyPr wrap="square" lIns="22860" rIns="22860" tIns="13716" bIns="0">
            <a:spAutoFit/>
          </a:bodyPr>
          <a:lstStyle/>
          <a:p>
            <a:pPr algn="l">
              <a:spcAft>
                <a:spcPts val="300"/>
              </a:spcAft>
            </a:pPr>
            <a:r>
              <a:rPr sz="1100" b="1">
                <a:solidFill>
                  <a:srgbClr val="AD3345"/>
                </a:solidFill>
                <a:latin typeface="Times New Roman"/>
              </a:rPr>
              <a:t>YES</a:t>
            </a:r>
          </a:p>
        </p:txBody>
      </p:sp>
      <p:grpSp>
        <p:nvGrpSpPr>
          <p:cNvPr id="15" name="Group 14"/>
          <p:cNvGrpSpPr/>
          <p:nvPr/>
        </p:nvGrpSpPr>
        <p:grpSpPr>
          <a:xfrm>
            <a:off x="5532120" y="1938528"/>
            <a:ext cx="2834640" cy="713232"/>
            <a:chOff x="5532120" y="1938528"/>
            <a:chExt cx="2834640" cy="713232"/>
          </a:xfrm>
        </p:grpSpPr>
        <p:sp>
          <p:nvSpPr>
            <p:cNvPr id="12" name="Rounded Rectangle 11"/>
            <p:cNvSpPr/>
            <p:nvPr/>
          </p:nvSpPr>
          <p:spPr>
            <a:xfrm>
              <a:off x="5532120" y="1938528"/>
              <a:ext cx="2834640" cy="7132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32120" y="1938528"/>
              <a:ext cx="41148" cy="713232"/>
            </a:xfrm>
            <a:prstGeom prst="rect">
              <a:avLst/>
            </a:prstGeom>
            <a:solidFill>
              <a:srgbClr val="AD33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32704" y="2020824"/>
              <a:ext cx="2633472" cy="393192"/>
            </a:xfrm>
            <a:prstGeom prst="rect">
              <a:avLst/>
            </a:prstGeom>
            <a:noFill/>
          </p:spPr>
          <p:txBody>
            <a:bodyPr wrap="square" lIns="22860" rIns="22860" tIns="13716" bIns="0">
              <a:spAutoFit/>
            </a:bodyPr>
            <a:lstStyle/>
            <a:p>
              <a:pPr algn="l">
                <a:spcAft>
                  <a:spcPts val="300"/>
                </a:spcAft>
              </a:pPr>
              <a:r>
                <a:rPr sz="1600" b="1">
                  <a:solidFill>
                    <a:srgbClr val="AD3345"/>
                  </a:solidFill>
                  <a:latin typeface="Times New Roman"/>
                </a:rPr>
                <a:t>STOP / existing avoidance</a:t>
              </a:r>
            </a:p>
          </p:txBody>
        </p:sp>
      </p:grpSp>
      <p:cxnSp>
        <p:nvCxnSpPr>
          <p:cNvPr id="16" name="Connector 15"/>
          <p:cNvCxnSpPr/>
          <p:nvPr/>
        </p:nvCxnSpPr>
        <p:spPr>
          <a:xfrm>
            <a:off x="3703320" y="2633472"/>
            <a:ext cx="0" cy="256032"/>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94760" y="2660904"/>
            <a:ext cx="4572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NO</a:t>
            </a:r>
          </a:p>
        </p:txBody>
      </p:sp>
      <p:sp>
        <p:nvSpPr>
          <p:cNvPr id="18" name="Diamond 17"/>
          <p:cNvSpPr/>
          <p:nvPr/>
        </p:nvSpPr>
        <p:spPr>
          <a:xfrm>
            <a:off x="2596896" y="2889504"/>
            <a:ext cx="2231136" cy="731520"/>
          </a:xfrm>
          <a:prstGeom prst="diamond">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300" b="1">
                <a:solidFill>
                  <a:srgbClr val="FFFFFF"/>
                </a:solidFill>
                <a:latin typeface="Times New Roman"/>
              </a:rPr>
              <a:t>STOP / No Entry hold?</a:t>
            </a:r>
          </a:p>
        </p:txBody>
      </p:sp>
      <p:cxnSp>
        <p:nvCxnSpPr>
          <p:cNvPr id="19" name="Connector 18"/>
          <p:cNvCxnSpPr/>
          <p:nvPr/>
        </p:nvCxnSpPr>
        <p:spPr>
          <a:xfrm>
            <a:off x="4828032" y="3255264"/>
            <a:ext cx="704088" cy="0"/>
          </a:xfrm>
          <a:prstGeom prst="line">
            <a:avLst/>
          </a:prstGeom>
          <a:ln w="20320">
            <a:solidFill>
              <a:srgbClr val="622423"/>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37760" y="2980944"/>
            <a:ext cx="457200" cy="219456"/>
          </a:xfrm>
          <a:prstGeom prst="rect">
            <a:avLst/>
          </a:prstGeom>
          <a:noFill/>
        </p:spPr>
        <p:txBody>
          <a:bodyPr wrap="square" lIns="22860" rIns="22860" tIns="13716" bIns="0">
            <a:spAutoFit/>
          </a:bodyPr>
          <a:lstStyle/>
          <a:p>
            <a:pPr algn="l">
              <a:spcAft>
                <a:spcPts val="300"/>
              </a:spcAft>
            </a:pPr>
            <a:r>
              <a:rPr sz="1100" b="1">
                <a:solidFill>
                  <a:srgbClr val="622423"/>
                </a:solidFill>
                <a:latin typeface="Times New Roman"/>
              </a:rPr>
              <a:t>YES</a:t>
            </a:r>
          </a:p>
        </p:txBody>
      </p:sp>
      <p:grpSp>
        <p:nvGrpSpPr>
          <p:cNvPr id="24" name="Group 23"/>
          <p:cNvGrpSpPr/>
          <p:nvPr/>
        </p:nvGrpSpPr>
        <p:grpSpPr>
          <a:xfrm>
            <a:off x="5532120" y="2926080"/>
            <a:ext cx="2834640" cy="713232"/>
            <a:chOff x="5532120" y="2926080"/>
            <a:chExt cx="2834640" cy="713232"/>
          </a:xfrm>
        </p:grpSpPr>
        <p:sp>
          <p:nvSpPr>
            <p:cNvPr id="21" name="Rounded Rectangle 20"/>
            <p:cNvSpPr/>
            <p:nvPr/>
          </p:nvSpPr>
          <p:spPr>
            <a:xfrm>
              <a:off x="5532120" y="2926080"/>
              <a:ext cx="2834640" cy="7132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2926080"/>
              <a:ext cx="41148" cy="713232"/>
            </a:xfrm>
            <a:prstGeom prst="rect">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32704" y="3008376"/>
              <a:ext cx="2633472" cy="393192"/>
            </a:xfrm>
            <a:prstGeom prst="rect">
              <a:avLst/>
            </a:prstGeom>
            <a:noFill/>
          </p:spPr>
          <p:txBody>
            <a:bodyPr wrap="square" lIns="22860" rIns="22860" tIns="13716" bIns="0">
              <a:spAutoFit/>
            </a:bodyPr>
            <a:lstStyle/>
            <a:p>
              <a:pPr algn="l">
                <a:spcAft>
                  <a:spcPts val="300"/>
                </a:spcAft>
              </a:pPr>
              <a:r>
                <a:rPr sz="1600" b="1">
                  <a:solidFill>
                    <a:srgbClr val="622423"/>
                  </a:solidFill>
                  <a:latin typeface="Times New Roman"/>
                </a:rPr>
                <a:t>Hold + dashboard message</a:t>
              </a:r>
            </a:p>
          </p:txBody>
        </p:sp>
      </p:grpSp>
      <p:cxnSp>
        <p:nvCxnSpPr>
          <p:cNvPr id="25" name="Connector 24"/>
          <p:cNvCxnSpPr/>
          <p:nvPr/>
        </p:nvCxnSpPr>
        <p:spPr>
          <a:xfrm>
            <a:off x="3703320" y="3621024"/>
            <a:ext cx="0" cy="256032"/>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794760" y="3648456"/>
            <a:ext cx="4572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NO</a:t>
            </a:r>
          </a:p>
        </p:txBody>
      </p:sp>
      <p:sp>
        <p:nvSpPr>
          <p:cNvPr id="27" name="Diamond 26"/>
          <p:cNvSpPr/>
          <p:nvPr/>
        </p:nvSpPr>
        <p:spPr>
          <a:xfrm>
            <a:off x="2596896" y="3877056"/>
            <a:ext cx="2231136" cy="731520"/>
          </a:xfrm>
          <a:prstGeom prst="diamond">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300" b="1">
                <a:solidFill>
                  <a:srgbClr val="FFFFFF"/>
                </a:solidFill>
                <a:latin typeface="Times New Roman"/>
              </a:rPr>
              <a:t>Confirmed turn + clear?</a:t>
            </a:r>
          </a:p>
        </p:txBody>
      </p:sp>
      <p:cxnSp>
        <p:nvCxnSpPr>
          <p:cNvPr id="28" name="Connector 27"/>
          <p:cNvCxnSpPr/>
          <p:nvPr/>
        </p:nvCxnSpPr>
        <p:spPr>
          <a:xfrm>
            <a:off x="4828032" y="4242816"/>
            <a:ext cx="704088" cy="0"/>
          </a:xfrm>
          <a:prstGeom prst="line">
            <a:avLst/>
          </a:prstGeom>
          <a:ln w="20320">
            <a:solidFill>
              <a:srgbClr val="355CBC"/>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937760" y="3968496"/>
            <a:ext cx="457200" cy="219456"/>
          </a:xfrm>
          <a:prstGeom prst="rect">
            <a:avLst/>
          </a:prstGeom>
          <a:noFill/>
        </p:spPr>
        <p:txBody>
          <a:bodyPr wrap="square" lIns="22860" rIns="22860" tIns="13716" bIns="0">
            <a:spAutoFit/>
          </a:bodyPr>
          <a:lstStyle/>
          <a:p>
            <a:pPr algn="l">
              <a:spcAft>
                <a:spcPts val="300"/>
              </a:spcAft>
            </a:pPr>
            <a:r>
              <a:rPr sz="1100" b="1">
                <a:solidFill>
                  <a:srgbClr val="355CBC"/>
                </a:solidFill>
                <a:latin typeface="Times New Roman"/>
              </a:rPr>
              <a:t>YES</a:t>
            </a:r>
          </a:p>
        </p:txBody>
      </p:sp>
      <p:grpSp>
        <p:nvGrpSpPr>
          <p:cNvPr id="33" name="Group 32"/>
          <p:cNvGrpSpPr/>
          <p:nvPr/>
        </p:nvGrpSpPr>
        <p:grpSpPr>
          <a:xfrm>
            <a:off x="5532120" y="3913632"/>
            <a:ext cx="2834640" cy="713232"/>
            <a:chOff x="5532120" y="3913632"/>
            <a:chExt cx="2834640" cy="713232"/>
          </a:xfrm>
        </p:grpSpPr>
        <p:sp>
          <p:nvSpPr>
            <p:cNvPr id="30" name="Rounded Rectangle 29"/>
            <p:cNvSpPr/>
            <p:nvPr/>
          </p:nvSpPr>
          <p:spPr>
            <a:xfrm>
              <a:off x="5532120" y="3913632"/>
              <a:ext cx="2834640" cy="7132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32120" y="3913632"/>
              <a:ext cx="41148" cy="713232"/>
            </a:xfrm>
            <a:prstGeom prst="rect">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32704" y="3995928"/>
              <a:ext cx="2633472" cy="393192"/>
            </a:xfrm>
            <a:prstGeom prst="rect">
              <a:avLst/>
            </a:prstGeom>
            <a:noFill/>
          </p:spPr>
          <p:txBody>
            <a:bodyPr wrap="square" lIns="22860" rIns="22860" tIns="13716" bIns="0">
              <a:spAutoFit/>
            </a:bodyPr>
            <a:lstStyle/>
            <a:p>
              <a:pPr algn="l">
                <a:spcAft>
                  <a:spcPts val="300"/>
                </a:spcAft>
              </a:pPr>
              <a:r>
                <a:rPr sz="1600" b="1">
                  <a:solidFill>
                    <a:srgbClr val="355CBC"/>
                  </a:solidFill>
                  <a:latin typeface="Times New Roman"/>
                </a:rPr>
                <a:t>Bounded sign maneuver</a:t>
              </a:r>
            </a:p>
          </p:txBody>
        </p:sp>
      </p:grpSp>
      <p:cxnSp>
        <p:nvCxnSpPr>
          <p:cNvPr id="34" name="Connector 33"/>
          <p:cNvCxnSpPr/>
          <p:nvPr/>
        </p:nvCxnSpPr>
        <p:spPr>
          <a:xfrm>
            <a:off x="3703320" y="4608576"/>
            <a:ext cx="0" cy="237744"/>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2084831" y="4846320"/>
            <a:ext cx="3236976" cy="429768"/>
          </a:xfrm>
          <a:prstGeom prst="ellipse">
            <a:avLst/>
          </a:prstGeom>
          <a:solidFill>
            <a:srgbClr val="087F8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b="1">
                <a:solidFill>
                  <a:srgbClr val="FFFFFF"/>
                </a:solidFill>
                <a:latin typeface="Times New Roman"/>
              </a:rPr>
              <a:t>Lane / follow / reactive guidance</a:t>
            </a:r>
          </a:p>
        </p:txBody>
      </p:sp>
      <p:sp>
        <p:nvSpPr>
          <p:cNvPr id="36" name="TextBox 35"/>
          <p:cNvSpPr txBox="1"/>
          <p:nvPr/>
        </p:nvSpPr>
        <p:spPr>
          <a:xfrm>
            <a:off x="640080" y="1463040"/>
            <a:ext cx="128016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OBSERVE</a:t>
            </a:r>
          </a:p>
        </p:txBody>
      </p:sp>
      <p:sp>
        <p:nvSpPr>
          <p:cNvPr id="37" name="TextBox 36"/>
          <p:cNvSpPr txBox="1"/>
          <p:nvPr/>
        </p:nvSpPr>
        <p:spPr>
          <a:xfrm>
            <a:off x="640080" y="1792224"/>
            <a:ext cx="1554480" cy="667512"/>
          </a:xfrm>
          <a:prstGeom prst="rect">
            <a:avLst/>
          </a:prstGeom>
          <a:noFill/>
        </p:spPr>
        <p:txBody>
          <a:bodyPr wrap="square" lIns="22860" rIns="22860" tIns="13716" bIns="0">
            <a:spAutoFit/>
          </a:bodyPr>
          <a:lstStyle/>
          <a:p>
            <a:pPr algn="l">
              <a:spcAft>
                <a:spcPts val="300"/>
              </a:spcAft>
            </a:pPr>
            <a:r>
              <a:rPr sz="1450" b="0">
                <a:solidFill>
                  <a:srgbClr val="172D3C"/>
                </a:solidFill>
                <a:latin typeface="Times New Roman"/>
              </a:rPr>
              <a:t>Only fresh sensing</a:t>
            </a:r>
          </a:p>
          <a:p>
            <a:pPr algn="l">
              <a:spcAft>
                <a:spcPts val="300"/>
              </a:spcAft>
            </a:pPr>
            <a:r>
              <a:rPr sz="1450" b="0">
                <a:solidFill>
                  <a:srgbClr val="172D3C"/>
                </a:solidFill>
                <a:latin typeface="Times New Roman"/>
              </a:rPr>
              <a:t>can authorize a</a:t>
            </a:r>
          </a:p>
          <a:p>
            <a:pPr algn="l">
              <a:spcAft>
                <a:spcPts val="300"/>
              </a:spcAft>
            </a:pPr>
            <a:r>
              <a:rPr sz="1450" b="0">
                <a:solidFill>
                  <a:srgbClr val="172D3C"/>
                </a:solidFill>
                <a:latin typeface="Times New Roman"/>
              </a:rPr>
              <a:t>sign maneuver.</a:t>
            </a:r>
          </a:p>
        </p:txBody>
      </p:sp>
      <p:sp>
        <p:nvSpPr>
          <p:cNvPr id="38" name="TextBox 37"/>
          <p:cNvSpPr txBox="1"/>
          <p:nvPr/>
        </p:nvSpPr>
        <p:spPr>
          <a:xfrm>
            <a:off x="640080" y="2999232"/>
            <a:ext cx="1554480" cy="219456"/>
          </a:xfrm>
          <a:prstGeom prst="rect">
            <a:avLst/>
          </a:prstGeom>
          <a:noFill/>
        </p:spPr>
        <p:txBody>
          <a:bodyPr wrap="square" lIns="22860" rIns="22860" tIns="13716" bIns="0">
            <a:spAutoFit/>
          </a:bodyPr>
          <a:lstStyle/>
          <a:p>
            <a:pPr algn="l">
              <a:spcAft>
                <a:spcPts val="300"/>
              </a:spcAft>
            </a:pPr>
            <a:r>
              <a:rPr sz="1100" b="1">
                <a:solidFill>
                  <a:srgbClr val="355CBC"/>
                </a:solidFill>
                <a:latin typeface="Times New Roman"/>
              </a:rPr>
              <a:t>RE-EVALUATE</a:t>
            </a:r>
          </a:p>
        </p:txBody>
      </p:sp>
      <p:sp>
        <p:nvSpPr>
          <p:cNvPr id="39" name="TextBox 38"/>
          <p:cNvSpPr txBox="1"/>
          <p:nvPr/>
        </p:nvSpPr>
        <p:spPr>
          <a:xfrm>
            <a:off x="640080" y="3337560"/>
            <a:ext cx="1554480" cy="1161288"/>
          </a:xfrm>
          <a:prstGeom prst="rect">
            <a:avLst/>
          </a:prstGeom>
          <a:noFill/>
        </p:spPr>
        <p:txBody>
          <a:bodyPr wrap="square" lIns="22860" rIns="22860" tIns="13716" bIns="0">
            <a:spAutoFit/>
          </a:bodyPr>
          <a:lstStyle/>
          <a:p>
            <a:pPr algn="l">
              <a:spcAft>
                <a:spcPts val="300"/>
              </a:spcAft>
            </a:pPr>
            <a:r>
              <a:rPr sz="1450" b="0">
                <a:solidFill>
                  <a:srgbClr val="172D3C"/>
                </a:solidFill>
                <a:latin typeface="Times New Roman"/>
              </a:rPr>
              <a:t>Interruption during</a:t>
            </a:r>
          </a:p>
          <a:p>
            <a:pPr algn="l">
              <a:spcAft>
                <a:spcPts val="300"/>
              </a:spcAft>
            </a:pPr>
            <a:r>
              <a:rPr sz="1450" b="0">
                <a:solidFill>
                  <a:srgbClr val="172D3C"/>
                </a:solidFill>
                <a:latin typeface="Times New Roman"/>
              </a:rPr>
              <a:t>a sign turn → stop</a:t>
            </a:r>
          </a:p>
          <a:p>
            <a:pPr algn="l">
              <a:spcAft>
                <a:spcPts val="300"/>
              </a:spcAft>
            </a:pPr>
            <a:r>
              <a:rPr sz="1450" b="0">
                <a:solidFill>
                  <a:srgbClr val="172D3C"/>
                </a:solidFill>
                <a:latin typeface="Times New Roman"/>
              </a:rPr>
              <a:t>and fault. Uno local</a:t>
            </a:r>
          </a:p>
          <a:p>
            <a:pPr algn="l">
              <a:spcAft>
                <a:spcPts val="300"/>
              </a:spcAft>
            </a:pPr>
            <a:r>
              <a:rPr sz="1450" b="0">
                <a:solidFill>
                  <a:srgbClr val="172D3C"/>
                </a:solidFill>
                <a:latin typeface="Times New Roman"/>
              </a:rPr>
              <a:t>safety can preempt.</a:t>
            </a:r>
          </a:p>
        </p:txBody>
      </p:sp>
      <p:sp>
        <p:nvSpPr>
          <p:cNvPr id="40" name="Rounded Rectangle 39"/>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Sign extension: observations ≤0.75 s old; sonar ≤0.8 s; obstacle results ≤0.5 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tgtEl>
                                          <p:spTgt spid="18"/>
                                        </p:tgtEl>
                                        <p:attrNameLst>
                                          <p:attrName>style.visibility</p:attrName>
                                        </p:attrNameLst>
                                      </p:cBhvr>
                                      <p:to>
                                        <p:strVal val="visible"/>
                                      </p:to>
                                    </p:set>
                                    <p:animEffect transition="in" filter="fade">
                                      <p:cBhvr>
                                        <p:cTn id="12" dur="3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tgtEl>
                                          <p:spTgt spid="27"/>
                                        </p:tgtEl>
                                        <p:attrNameLst>
                                          <p:attrName>style.visibility</p:attrName>
                                        </p:attrNameLst>
                                      </p:cBhvr>
                                      <p:to>
                                        <p:strVal val="visible"/>
                                      </p:to>
                                    </p:set>
                                    <p:animEffect transition="in" filter="fade">
                                      <p:cBhvr>
                                        <p:cTn id="17"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Use Cases / From Operator to Outcome</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BEHAVIOR CONTRACT  /  WHAT THE USER ASKS AND THE CAR MUST DO</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repository dashboard routes and operating modes; trained sign policy; conceptual UML diagram.</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7</a:t>
            </a:r>
          </a:p>
        </p:txBody>
      </p:sp>
      <p:sp>
        <p:nvSpPr>
          <p:cNvPr id="7" name="Rounded Rectangle 6"/>
          <p:cNvSpPr/>
          <p:nvPr/>
        </p:nvSpPr>
        <p:spPr>
          <a:xfrm>
            <a:off x="1719072" y="1408176"/>
            <a:ext cx="5513832" cy="2798064"/>
          </a:xfrm>
          <a:prstGeom prst="roundRect">
            <a:avLst>
              <a:gd name="adj" fmla="val 10000"/>
            </a:avLst>
          </a:prstGeom>
          <a:solidFill>
            <a:srgbClr val="EDF3F5"/>
          </a:solidFill>
          <a:ln w="8890">
            <a:solidFill>
              <a:srgbClr val="1635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1536192"/>
            <a:ext cx="4572000" cy="219456"/>
          </a:xfrm>
          <a:prstGeom prst="rect">
            <a:avLst/>
          </a:prstGeom>
          <a:noFill/>
        </p:spPr>
        <p:txBody>
          <a:bodyPr wrap="square" lIns="22860" rIns="22860" tIns="13716" bIns="0">
            <a:spAutoFit/>
          </a:bodyPr>
          <a:lstStyle/>
          <a:p>
            <a:pPr algn="l">
              <a:spcAft>
                <a:spcPts val="300"/>
              </a:spcAft>
            </a:pPr>
            <a:r>
              <a:rPr sz="1100" b="1">
                <a:solidFill>
                  <a:srgbClr val="16354B"/>
                </a:solidFill>
                <a:latin typeface="Times New Roman"/>
              </a:rPr>
              <a:t>AUTONOMOUS RC CAR</a:t>
            </a:r>
          </a:p>
        </p:txBody>
      </p:sp>
      <p:sp>
        <p:nvSpPr>
          <p:cNvPr id="9" name="Oval 8"/>
          <p:cNvSpPr/>
          <p:nvPr/>
        </p:nvSpPr>
        <p:spPr>
          <a:xfrm>
            <a:off x="896112" y="2057400"/>
            <a:ext cx="228600" cy="2286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10412" y="2286000"/>
            <a:ext cx="0" cy="493776"/>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0664" y="2478024"/>
            <a:ext cx="539496"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49808" y="2779776"/>
            <a:ext cx="260604" cy="283464"/>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10412" y="2779776"/>
            <a:ext cx="260604" cy="283464"/>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5488" y="3127248"/>
            <a:ext cx="1078992" cy="347472"/>
          </a:xfrm>
          <a:prstGeom prst="rect">
            <a:avLst/>
          </a:prstGeom>
          <a:noFill/>
        </p:spPr>
        <p:txBody>
          <a:bodyPr wrap="square" lIns="22860" rIns="22860" tIns="13716" bIns="0">
            <a:spAutoFit/>
          </a:bodyPr>
          <a:lstStyle/>
          <a:p>
            <a:pPr algn="ctr">
              <a:spcAft>
                <a:spcPts val="300"/>
              </a:spcAft>
            </a:pPr>
            <a:r>
              <a:rPr sz="1300" b="1">
                <a:solidFill>
                  <a:srgbClr val="087F8C"/>
                </a:solidFill>
                <a:latin typeface="Times New Roman"/>
              </a:rPr>
              <a:t>Operator</a:t>
            </a:r>
          </a:p>
        </p:txBody>
      </p:sp>
      <p:sp>
        <p:nvSpPr>
          <p:cNvPr id="15" name="Oval 14"/>
          <p:cNvSpPr/>
          <p:nvPr/>
        </p:nvSpPr>
        <p:spPr>
          <a:xfrm>
            <a:off x="7708392" y="2057400"/>
            <a:ext cx="228600" cy="228600"/>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822692" y="2286000"/>
            <a:ext cx="0" cy="493776"/>
          </a:xfrm>
          <a:prstGeom prst="line">
            <a:avLst/>
          </a:prstGeom>
          <a:ln w="19050">
            <a:solidFill>
              <a:srgbClr val="62242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552944" y="2478024"/>
            <a:ext cx="539496" cy="0"/>
          </a:xfrm>
          <a:prstGeom prst="line">
            <a:avLst/>
          </a:prstGeom>
          <a:ln w="19050">
            <a:solidFill>
              <a:srgbClr val="62242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7562088" y="2779776"/>
            <a:ext cx="260604" cy="283464"/>
          </a:xfrm>
          <a:prstGeom prst="line">
            <a:avLst/>
          </a:prstGeom>
          <a:ln w="19050">
            <a:solidFill>
              <a:srgbClr val="62242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22692" y="2779776"/>
            <a:ext cx="260604" cy="283464"/>
          </a:xfrm>
          <a:prstGeom prst="line">
            <a:avLst/>
          </a:prstGeom>
          <a:ln w="19050">
            <a:solidFill>
              <a:srgbClr val="62242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287768" y="3127248"/>
            <a:ext cx="1078992" cy="347472"/>
          </a:xfrm>
          <a:prstGeom prst="rect">
            <a:avLst/>
          </a:prstGeom>
          <a:noFill/>
        </p:spPr>
        <p:txBody>
          <a:bodyPr wrap="square" lIns="22860" rIns="22860" tIns="13716" bIns="0">
            <a:spAutoFit/>
          </a:bodyPr>
          <a:lstStyle/>
          <a:p>
            <a:pPr algn="ctr">
              <a:spcAft>
                <a:spcPts val="300"/>
              </a:spcAft>
            </a:pPr>
            <a:r>
              <a:rPr sz="1300" b="1">
                <a:solidFill>
                  <a:srgbClr val="622423"/>
                </a:solidFill>
                <a:latin typeface="Times New Roman"/>
              </a:rPr>
              <a:t>Track / signs</a:t>
            </a:r>
          </a:p>
        </p:txBody>
      </p:sp>
      <p:sp>
        <p:nvSpPr>
          <p:cNvPr id="21" name="Oval 20"/>
          <p:cNvSpPr/>
          <p:nvPr/>
        </p:nvSpPr>
        <p:spPr>
          <a:xfrm>
            <a:off x="2048256" y="1874519"/>
            <a:ext cx="2203704" cy="758952"/>
          </a:xfrm>
          <a:prstGeom prst="ellipse">
            <a:avLst/>
          </a:prstGeom>
          <a:solidFill>
            <a:srgbClr val="FFFFFF"/>
          </a:solidFill>
          <a:ln w="1016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87F8C"/>
                </a:solidFill>
                <a:latin typeface="Times New Roman"/>
              </a:rPr>
              <a:t>Select mode / owner</a:t>
            </a:r>
          </a:p>
        </p:txBody>
      </p:sp>
      <p:sp>
        <p:nvSpPr>
          <p:cNvPr id="22" name="Oval 21"/>
          <p:cNvSpPr/>
          <p:nvPr/>
        </p:nvSpPr>
        <p:spPr>
          <a:xfrm>
            <a:off x="2048256" y="2880360"/>
            <a:ext cx="2203704" cy="758952"/>
          </a:xfrm>
          <a:prstGeom prst="ellipse">
            <a:avLst/>
          </a:prstGeom>
          <a:solidFill>
            <a:srgbClr val="FFFFFF"/>
          </a:solidFill>
          <a:ln w="1016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87F8C"/>
                </a:solidFill>
                <a:latin typeface="Times New Roman"/>
              </a:rPr>
              <a:t>View state / stop / reset</a:t>
            </a:r>
          </a:p>
        </p:txBody>
      </p:sp>
      <p:sp>
        <p:nvSpPr>
          <p:cNvPr id="23" name="Oval 22"/>
          <p:cNvSpPr/>
          <p:nvPr/>
        </p:nvSpPr>
        <p:spPr>
          <a:xfrm>
            <a:off x="4617720" y="1874519"/>
            <a:ext cx="2249424" cy="758952"/>
          </a:xfrm>
          <a:prstGeom prst="ellipse">
            <a:avLst/>
          </a:prstGeom>
          <a:solidFill>
            <a:srgbClr val="FFFFFF"/>
          </a:solidFill>
          <a:ln w="10160">
            <a:solidFill>
              <a:srgbClr val="62242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622423"/>
                </a:solidFill>
                <a:latin typeface="Times New Roman"/>
              </a:rPr>
              <a:t>Lane / person guidance</a:t>
            </a:r>
          </a:p>
        </p:txBody>
      </p:sp>
      <p:sp>
        <p:nvSpPr>
          <p:cNvPr id="24" name="Oval 23"/>
          <p:cNvSpPr/>
          <p:nvPr/>
        </p:nvSpPr>
        <p:spPr>
          <a:xfrm>
            <a:off x="4617720" y="2880360"/>
            <a:ext cx="2249424" cy="758952"/>
          </a:xfrm>
          <a:prstGeom prst="ellipse">
            <a:avLst/>
          </a:prstGeom>
          <a:solidFill>
            <a:srgbClr val="FFFFFF"/>
          </a:solidFill>
          <a:ln w="10160">
            <a:solidFill>
              <a:srgbClr val="62242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622423"/>
                </a:solidFill>
                <a:latin typeface="Times New Roman"/>
              </a:rPr>
              <a:t>Hazards / sign response</a:t>
            </a:r>
          </a:p>
        </p:txBody>
      </p:sp>
      <p:cxnSp>
        <p:nvCxnSpPr>
          <p:cNvPr id="25" name="Connector 24"/>
          <p:cNvCxnSpPr/>
          <p:nvPr/>
        </p:nvCxnSpPr>
        <p:spPr>
          <a:xfrm flipV="1">
            <a:off x="1280160" y="2249424"/>
            <a:ext cx="768096" cy="329184"/>
          </a:xfrm>
          <a:prstGeom prst="line">
            <a:avLst/>
          </a:prstGeom>
          <a:ln w="1397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867144" y="2249424"/>
            <a:ext cx="630935" cy="329184"/>
          </a:xfrm>
          <a:prstGeom prst="line">
            <a:avLst/>
          </a:prstGeom>
          <a:ln w="13970">
            <a:solidFill>
              <a:srgbClr val="62242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80160" y="2578608"/>
            <a:ext cx="768096" cy="676656"/>
          </a:xfrm>
          <a:prstGeom prst="line">
            <a:avLst/>
          </a:prstGeom>
          <a:ln w="1397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867144" y="2578608"/>
            <a:ext cx="630935" cy="676656"/>
          </a:xfrm>
          <a:prstGeom prst="line">
            <a:avLst/>
          </a:prstGeom>
          <a:ln w="13970">
            <a:solidFill>
              <a:srgbClr val="622423"/>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86968" y="4526280"/>
            <a:ext cx="265176" cy="265176"/>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4974336"/>
            <a:ext cx="1600200" cy="301752"/>
          </a:xfrm>
          <a:prstGeom prst="rect">
            <a:avLst/>
          </a:prstGeom>
          <a:noFill/>
        </p:spPr>
        <p:txBody>
          <a:bodyPr wrap="square" lIns="22860" rIns="22860" tIns="13716" bIns="0">
            <a:spAutoFit/>
          </a:bodyPr>
          <a:lstStyle/>
          <a:p>
            <a:pPr algn="ctr">
              <a:spcAft>
                <a:spcPts val="300"/>
              </a:spcAft>
            </a:pPr>
            <a:r>
              <a:rPr sz="1530" b="1">
                <a:solidFill>
                  <a:srgbClr val="087F8C"/>
                </a:solidFill>
                <a:latin typeface="Times New Roman"/>
              </a:rPr>
              <a:t>Visual event</a:t>
            </a:r>
          </a:p>
        </p:txBody>
      </p:sp>
      <p:cxnSp>
        <p:nvCxnSpPr>
          <p:cNvPr id="31" name="Connector 30"/>
          <p:cNvCxnSpPr/>
          <p:nvPr/>
        </p:nvCxnSpPr>
        <p:spPr>
          <a:xfrm>
            <a:off x="1271016" y="4663440"/>
            <a:ext cx="1225296" cy="0"/>
          </a:xfrm>
          <a:prstGeom prst="line">
            <a:avLst/>
          </a:prstGeom>
          <a:ln w="20320">
            <a:solidFill>
              <a:srgbClr val="087F8C"/>
            </a:solidFill>
            <a:tailEnd type="triangle"/>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2880360" y="4526280"/>
            <a:ext cx="265176" cy="265176"/>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70048" y="4974336"/>
            <a:ext cx="1600200" cy="301752"/>
          </a:xfrm>
          <a:prstGeom prst="rect">
            <a:avLst/>
          </a:prstGeom>
          <a:noFill/>
        </p:spPr>
        <p:txBody>
          <a:bodyPr wrap="square" lIns="22860" rIns="22860" tIns="13716" bIns="0">
            <a:spAutoFit/>
          </a:bodyPr>
          <a:lstStyle/>
          <a:p>
            <a:pPr algn="ctr">
              <a:spcAft>
                <a:spcPts val="300"/>
              </a:spcAft>
            </a:pPr>
            <a:r>
              <a:rPr sz="1530" b="1">
                <a:solidFill>
                  <a:srgbClr val="355CBC"/>
                </a:solidFill>
                <a:latin typeface="Times New Roman"/>
              </a:rPr>
              <a:t>Policy state</a:t>
            </a:r>
          </a:p>
        </p:txBody>
      </p:sp>
      <p:cxnSp>
        <p:nvCxnSpPr>
          <p:cNvPr id="34" name="Connector 33"/>
          <p:cNvCxnSpPr/>
          <p:nvPr/>
        </p:nvCxnSpPr>
        <p:spPr>
          <a:xfrm>
            <a:off x="3264408" y="4663440"/>
            <a:ext cx="1225296" cy="0"/>
          </a:xfrm>
          <a:prstGeom prst="line">
            <a:avLst/>
          </a:prstGeom>
          <a:ln w="20320">
            <a:solidFill>
              <a:srgbClr val="355CBC"/>
            </a:solidFill>
            <a:tailEnd type="triangle"/>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882896" y="4526280"/>
            <a:ext cx="265176" cy="265176"/>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72583" y="4974336"/>
            <a:ext cx="1600200" cy="301752"/>
          </a:xfrm>
          <a:prstGeom prst="rect">
            <a:avLst/>
          </a:prstGeom>
          <a:noFill/>
        </p:spPr>
        <p:txBody>
          <a:bodyPr wrap="square" lIns="22860" rIns="22860" tIns="13716" bIns="0">
            <a:spAutoFit/>
          </a:bodyPr>
          <a:lstStyle/>
          <a:p>
            <a:pPr algn="ctr">
              <a:spcAft>
                <a:spcPts val="300"/>
              </a:spcAft>
            </a:pPr>
            <a:r>
              <a:rPr sz="1530" b="1">
                <a:solidFill>
                  <a:srgbClr val="622423"/>
                </a:solidFill>
                <a:latin typeface="Times New Roman"/>
              </a:rPr>
              <a:t>Command</a:t>
            </a:r>
          </a:p>
        </p:txBody>
      </p:sp>
      <p:cxnSp>
        <p:nvCxnSpPr>
          <p:cNvPr id="37" name="Connector 36"/>
          <p:cNvCxnSpPr/>
          <p:nvPr/>
        </p:nvCxnSpPr>
        <p:spPr>
          <a:xfrm>
            <a:off x="5266944" y="4663440"/>
            <a:ext cx="1225296" cy="0"/>
          </a:xfrm>
          <a:prstGeom prst="line">
            <a:avLst/>
          </a:prstGeom>
          <a:ln w="20320">
            <a:solidFill>
              <a:srgbClr val="622423"/>
            </a:solidFill>
            <a:tailEnd type="triangle"/>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894576" y="4526280"/>
            <a:ext cx="265176" cy="265176"/>
          </a:xfrm>
          <a:prstGeom prst="ellipse">
            <a:avLst/>
          </a:prstGeom>
          <a:solidFill>
            <a:srgbClr val="C48A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84264" y="4974336"/>
            <a:ext cx="1600200" cy="301752"/>
          </a:xfrm>
          <a:prstGeom prst="rect">
            <a:avLst/>
          </a:prstGeom>
          <a:noFill/>
        </p:spPr>
        <p:txBody>
          <a:bodyPr wrap="square" lIns="22860" rIns="22860" tIns="13716" bIns="0">
            <a:spAutoFit/>
          </a:bodyPr>
          <a:lstStyle/>
          <a:p>
            <a:pPr algn="ctr">
              <a:spcAft>
                <a:spcPts val="300"/>
              </a:spcAft>
            </a:pPr>
            <a:r>
              <a:rPr sz="1530" b="1">
                <a:solidFill>
                  <a:srgbClr val="C48A16"/>
                </a:solidFill>
                <a:latin typeface="Times New Roman"/>
              </a:rPr>
              <a:t>Motion</a:t>
            </a:r>
          </a:p>
        </p:txBody>
      </p:sp>
      <p:sp>
        <p:nvSpPr>
          <p:cNvPr id="40" name="Rounded Rectangle 39"/>
          <p:cNvSpPr/>
          <p:nvPr/>
        </p:nvSpPr>
        <p:spPr>
          <a:xfrm>
            <a:off x="548640" y="5513832"/>
            <a:ext cx="8046720" cy="347472"/>
          </a:xfrm>
          <a:prstGeom prst="roundRect">
            <a:avLst>
              <a:gd name="adj" fmla="val 10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A complete demonstration pairs the detected event with policy state, commands and observed movement.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OBSTACLE AVOIDANCE  /  VISUAL HAZARDS + FRONT SONAR → MOTION PRIORITY</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8</a:t>
            </a:r>
          </a:p>
        </p:txBody>
      </p:sp>
      <p:sp>
        <p:nvSpPr>
          <p:cNvPr id="7" name="TextBox 6"/>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Obstacle Detection / Avoidance Logic</a:t>
            </a:r>
          </a:p>
        </p:txBody>
      </p:sp>
      <p:sp>
        <p:nvSpPr>
          <p:cNvPr id="8" name="Rounded Rectangle 7"/>
          <p:cNvSpPr/>
          <p:nvPr/>
        </p:nvSpPr>
        <p:spPr>
          <a:xfrm>
            <a:off x="621792" y="1353312"/>
            <a:ext cx="4032504" cy="3922776"/>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517904"/>
            <a:ext cx="3520440" cy="219456"/>
          </a:xfrm>
          <a:prstGeom prst="rect">
            <a:avLst/>
          </a:prstGeom>
          <a:noFill/>
        </p:spPr>
        <p:txBody>
          <a:bodyPr wrap="square" lIns="22860" rIns="22860" tIns="13716" bIns="0">
            <a:spAutoFit/>
          </a:bodyPr>
          <a:lstStyle/>
          <a:p>
            <a:pPr algn="l">
              <a:spcAft>
                <a:spcPts val="300"/>
              </a:spcAft>
            </a:pPr>
            <a:r>
              <a:rPr sz="1100" b="1">
                <a:solidFill>
                  <a:srgbClr val="FFFFFF"/>
                </a:solidFill>
                <a:latin typeface="Times New Roman"/>
              </a:rPr>
              <a:t>SCHEMATIC CAMERA CORRIDORS</a:t>
            </a:r>
          </a:p>
        </p:txBody>
      </p:sp>
      <p:sp>
        <p:nvSpPr>
          <p:cNvPr id="10" name="Rounded Rectangle 9"/>
          <p:cNvSpPr/>
          <p:nvPr/>
        </p:nvSpPr>
        <p:spPr>
          <a:xfrm>
            <a:off x="923544" y="1938528"/>
            <a:ext cx="1051560" cy="1938528"/>
          </a:xfrm>
          <a:prstGeom prst="roundRect">
            <a:avLst>
              <a:gd name="adj" fmla="val 10000"/>
            </a:avLst>
          </a:prstGeom>
          <a:solidFill>
            <a:srgbClr val="355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2039112"/>
            <a:ext cx="1051560" cy="246888"/>
          </a:xfrm>
          <a:prstGeom prst="rect">
            <a:avLst/>
          </a:prstGeom>
          <a:noFill/>
        </p:spPr>
        <p:txBody>
          <a:bodyPr wrap="square" lIns="22860" rIns="22860" tIns="13716" bIns="0">
            <a:spAutoFit/>
          </a:bodyPr>
          <a:lstStyle/>
          <a:p>
            <a:pPr algn="ctr">
              <a:spcAft>
                <a:spcPts val="300"/>
              </a:spcAft>
            </a:pPr>
            <a:r>
              <a:rPr sz="1100" b="1">
                <a:solidFill>
                  <a:srgbClr val="FFFFFF"/>
                </a:solidFill>
                <a:latin typeface="Times New Roman"/>
              </a:rPr>
              <a:t>LEFT</a:t>
            </a:r>
          </a:p>
        </p:txBody>
      </p:sp>
      <p:sp>
        <p:nvSpPr>
          <p:cNvPr id="12" name="Rounded Rectangle 11"/>
          <p:cNvSpPr/>
          <p:nvPr/>
        </p:nvSpPr>
        <p:spPr>
          <a:xfrm>
            <a:off x="2084831" y="1938528"/>
            <a:ext cx="1051560" cy="1938528"/>
          </a:xfrm>
          <a:prstGeom prst="roundRect">
            <a:avLst>
              <a:gd name="adj" fmla="val 10000"/>
            </a:avLst>
          </a:prstGeom>
          <a:solidFill>
            <a:srgbClr val="5F48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84831" y="2039112"/>
            <a:ext cx="1051560" cy="246888"/>
          </a:xfrm>
          <a:prstGeom prst="rect">
            <a:avLst/>
          </a:prstGeom>
          <a:noFill/>
        </p:spPr>
        <p:txBody>
          <a:bodyPr wrap="square" lIns="22860" rIns="22860" tIns="13716" bIns="0">
            <a:spAutoFit/>
          </a:bodyPr>
          <a:lstStyle/>
          <a:p>
            <a:pPr algn="ctr">
              <a:spcAft>
                <a:spcPts val="300"/>
              </a:spcAft>
            </a:pPr>
            <a:r>
              <a:rPr sz="1100" b="1">
                <a:solidFill>
                  <a:srgbClr val="FFFFFF"/>
                </a:solidFill>
                <a:latin typeface="Times New Roman"/>
              </a:rPr>
              <a:t>CENTER</a:t>
            </a:r>
          </a:p>
        </p:txBody>
      </p:sp>
      <p:sp>
        <p:nvSpPr>
          <p:cNvPr id="14" name="Rounded Rectangle 13"/>
          <p:cNvSpPr/>
          <p:nvPr/>
        </p:nvSpPr>
        <p:spPr>
          <a:xfrm>
            <a:off x="3246120" y="1938528"/>
            <a:ext cx="1051560" cy="1938528"/>
          </a:xfrm>
          <a:prstGeom prst="roundRect">
            <a:avLst>
              <a:gd name="adj" fmla="val 10000"/>
            </a:avLst>
          </a:prstGeom>
          <a:solidFill>
            <a:srgbClr val="355F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46120" y="2039112"/>
            <a:ext cx="1051560" cy="246888"/>
          </a:xfrm>
          <a:prstGeom prst="rect">
            <a:avLst/>
          </a:prstGeom>
          <a:noFill/>
        </p:spPr>
        <p:txBody>
          <a:bodyPr wrap="square" lIns="22860" rIns="22860" tIns="13716" bIns="0">
            <a:spAutoFit/>
          </a:bodyPr>
          <a:lstStyle/>
          <a:p>
            <a:pPr algn="ctr">
              <a:spcAft>
                <a:spcPts val="300"/>
              </a:spcAft>
            </a:pPr>
            <a:r>
              <a:rPr sz="1100" b="1">
                <a:solidFill>
                  <a:srgbClr val="FFFFFF"/>
                </a:solidFill>
                <a:latin typeface="Times New Roman"/>
              </a:rPr>
              <a:t>RIGHT</a:t>
            </a:r>
          </a:p>
        </p:txBody>
      </p:sp>
      <p:sp>
        <p:nvSpPr>
          <p:cNvPr id="16" name="Isosceles Triangle 15"/>
          <p:cNvSpPr/>
          <p:nvPr/>
        </p:nvSpPr>
        <p:spPr>
          <a:xfrm>
            <a:off x="2368296" y="2587752"/>
            <a:ext cx="502920" cy="594360"/>
          </a:xfrm>
          <a:prstGeom prst="triangle">
            <a:avLst/>
          </a:prstGeom>
          <a:solidFill>
            <a:srgbClr val="F0B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13432" y="3127248"/>
            <a:ext cx="612648" cy="91440"/>
          </a:xfrm>
          <a:prstGeom prst="rect">
            <a:avLst/>
          </a:prstGeom>
          <a:solidFill>
            <a:srgbClr val="DF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76272" y="3364992"/>
            <a:ext cx="859536" cy="265176"/>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HAZARD</a:t>
            </a:r>
          </a:p>
        </p:txBody>
      </p:sp>
      <p:cxnSp>
        <p:nvCxnSpPr>
          <p:cNvPr id="19" name="Connector 18"/>
          <p:cNvCxnSpPr/>
          <p:nvPr/>
        </p:nvCxnSpPr>
        <p:spPr>
          <a:xfrm flipV="1">
            <a:off x="2606040" y="3776472"/>
            <a:ext cx="0" cy="283464"/>
          </a:xfrm>
          <a:prstGeom prst="line">
            <a:avLst/>
          </a:prstGeom>
          <a:ln w="35560">
            <a:solidFill>
              <a:srgbClr val="45DD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435608" y="3776472"/>
            <a:ext cx="1170432" cy="0"/>
          </a:xfrm>
          <a:prstGeom prst="line">
            <a:avLst/>
          </a:prstGeom>
          <a:ln w="35560">
            <a:solidFill>
              <a:srgbClr val="45DD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35608" y="2487168"/>
            <a:ext cx="0" cy="1289304"/>
          </a:xfrm>
          <a:prstGeom prst="line">
            <a:avLst/>
          </a:prstGeom>
          <a:ln w="35560">
            <a:solidFill>
              <a:srgbClr val="45DD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435608" y="2404872"/>
            <a:ext cx="0" cy="246888"/>
          </a:xfrm>
          <a:prstGeom prst="line">
            <a:avLst/>
          </a:prstGeom>
          <a:ln w="35560">
            <a:solidFill>
              <a:srgbClr val="45DDC8"/>
            </a:solidFill>
            <a:tailEnd type="triangle"/>
          </a:ln>
        </p:spPr>
        <p:style>
          <a:lnRef idx="2">
            <a:schemeClr val="accent1"/>
          </a:lnRef>
          <a:fillRef idx="0">
            <a:schemeClr val="accent1"/>
          </a:fillRef>
          <a:effectRef idx="1">
            <a:schemeClr val="accent1"/>
          </a:effectRef>
          <a:fontRef idx="minor">
            <a:schemeClr val="tx1"/>
          </a:fontRef>
        </p:style>
      </p:cxnSp>
      <p:pic>
        <p:nvPicPr>
          <p:cNvPr id="23" name="Illustrated component — camera" descr="component_illustrations.png"/>
          <p:cNvPicPr>
            <a:picLocks noChangeAspect="1"/>
          </p:cNvPicPr>
          <p:nvPr/>
        </p:nvPicPr>
        <p:blipFill>
          <a:blip r:embed="rId4"/>
          <a:srcRect r="66667" t="50000"/>
          <a:stretch>
            <a:fillRect/>
          </a:stretch>
        </p:blipFill>
        <p:spPr>
          <a:xfrm>
            <a:off x="932688" y="4105656"/>
            <a:ext cx="768096" cy="768096"/>
          </a:xfrm>
          <a:prstGeom prst="rect">
            <a:avLst/>
          </a:prstGeom>
        </p:spPr>
      </p:pic>
      <p:pic>
        <p:nvPicPr>
          <p:cNvPr id="24" name="Illustrated component — sonar" descr="component_illustrations.png"/>
          <p:cNvPicPr>
            <a:picLocks noChangeAspect="1"/>
          </p:cNvPicPr>
          <p:nvPr/>
        </p:nvPicPr>
        <p:blipFill>
          <a:blip r:embed="rId4"/>
          <a:srcRect l="33933" r="33333" t="50000"/>
          <a:stretch>
            <a:fillRect/>
          </a:stretch>
        </p:blipFill>
        <p:spPr>
          <a:xfrm>
            <a:off x="3410712" y="4105656"/>
            <a:ext cx="768096" cy="768096"/>
          </a:xfrm>
          <a:prstGeom prst="rect">
            <a:avLst/>
          </a:prstGeom>
        </p:spPr>
      </p:pic>
      <p:sp>
        <p:nvSpPr>
          <p:cNvPr id="25" name="TextBox 24"/>
          <p:cNvSpPr txBox="1"/>
          <p:nvPr/>
        </p:nvSpPr>
        <p:spPr>
          <a:xfrm>
            <a:off x="914400" y="4892040"/>
            <a:ext cx="932688" cy="228600"/>
          </a:xfrm>
          <a:prstGeom prst="rect">
            <a:avLst/>
          </a:prstGeom>
          <a:noFill/>
        </p:spPr>
        <p:txBody>
          <a:bodyPr wrap="square" lIns="22860" rIns="22860" tIns="13716" bIns="0">
            <a:spAutoFit/>
          </a:bodyPr>
          <a:lstStyle/>
          <a:p>
            <a:pPr algn="ctr">
              <a:spcAft>
                <a:spcPts val="300"/>
              </a:spcAft>
            </a:pPr>
            <a:r>
              <a:rPr sz="1250" b="1">
                <a:solidFill>
                  <a:srgbClr val="FFFFFF"/>
                </a:solidFill>
                <a:latin typeface="Times New Roman"/>
              </a:rPr>
              <a:t>Vision</a:t>
            </a:r>
          </a:p>
        </p:txBody>
      </p:sp>
      <p:sp>
        <p:nvSpPr>
          <p:cNvPr id="26" name="TextBox 25"/>
          <p:cNvSpPr txBox="1"/>
          <p:nvPr/>
        </p:nvSpPr>
        <p:spPr>
          <a:xfrm>
            <a:off x="3300984" y="4892040"/>
            <a:ext cx="987552" cy="228600"/>
          </a:xfrm>
          <a:prstGeom prst="rect">
            <a:avLst/>
          </a:prstGeom>
          <a:noFill/>
        </p:spPr>
        <p:txBody>
          <a:bodyPr wrap="square" lIns="22860" rIns="22860" tIns="13716" bIns="0">
            <a:spAutoFit/>
          </a:bodyPr>
          <a:lstStyle/>
          <a:p>
            <a:pPr algn="ctr">
              <a:spcAft>
                <a:spcPts val="300"/>
              </a:spcAft>
            </a:pPr>
            <a:r>
              <a:rPr sz="1250" b="1">
                <a:solidFill>
                  <a:srgbClr val="FFFFFF"/>
                </a:solidFill>
                <a:latin typeface="Times New Roman"/>
              </a:rPr>
              <a:t>Sonar</a:t>
            </a:r>
          </a:p>
        </p:txBody>
      </p:sp>
      <p:sp>
        <p:nvSpPr>
          <p:cNvPr id="27" name="TextBox 26"/>
          <p:cNvSpPr txBox="1"/>
          <p:nvPr/>
        </p:nvSpPr>
        <p:spPr>
          <a:xfrm>
            <a:off x="1837943" y="4498848"/>
            <a:ext cx="1453896" cy="493776"/>
          </a:xfrm>
          <a:prstGeom prst="rect">
            <a:avLst/>
          </a:prstGeom>
          <a:noFill/>
        </p:spPr>
        <p:txBody>
          <a:bodyPr wrap="square" lIns="22860" rIns="22860" tIns="13716" bIns="0">
            <a:spAutoFit/>
          </a:bodyPr>
          <a:lstStyle/>
          <a:p>
            <a:pPr algn="ctr">
              <a:spcAft>
                <a:spcPts val="300"/>
              </a:spcAft>
            </a:pPr>
            <a:r>
              <a:rPr sz="1150" b="0">
                <a:solidFill>
                  <a:srgbClr val="FFFFFF"/>
                </a:solidFill>
                <a:latin typeface="Times New Roman"/>
              </a:rPr>
              <a:t>Illustrative bypass</a:t>
            </a:r>
          </a:p>
          <a:p>
            <a:pPr algn="ctr">
              <a:spcAft>
                <a:spcPts val="300"/>
              </a:spcAft>
            </a:pPr>
            <a:r>
              <a:rPr sz="1150" b="0">
                <a:solidFill>
                  <a:srgbClr val="FFFFFF"/>
                </a:solidFill>
                <a:latin typeface="Times New Roman"/>
              </a:rPr>
              <a:t>when clearance permits</a:t>
            </a:r>
          </a:p>
        </p:txBody>
      </p:sp>
      <p:sp>
        <p:nvSpPr>
          <p:cNvPr id="28" name="TextBox 27"/>
          <p:cNvSpPr txBox="1"/>
          <p:nvPr/>
        </p:nvSpPr>
        <p:spPr>
          <a:xfrm>
            <a:off x="4965192" y="1444752"/>
            <a:ext cx="3474720" cy="338328"/>
          </a:xfrm>
          <a:prstGeom prst="rect">
            <a:avLst/>
          </a:prstGeom>
          <a:noFill/>
        </p:spPr>
        <p:txBody>
          <a:bodyPr wrap="square" lIns="22860" rIns="22860" tIns="13716" bIns="0">
            <a:spAutoFit/>
          </a:bodyPr>
          <a:lstStyle/>
          <a:p>
            <a:pPr algn="l">
              <a:spcAft>
                <a:spcPts val="300"/>
              </a:spcAft>
            </a:pPr>
            <a:r>
              <a:rPr sz="1800" b="1">
                <a:solidFill>
                  <a:srgbClr val="087F8C"/>
                </a:solidFill>
                <a:latin typeface="Times New Roman"/>
              </a:rPr>
              <a:t>Detect candidate hazards</a:t>
            </a:r>
          </a:p>
        </p:txBody>
      </p:sp>
      <p:sp>
        <p:nvSpPr>
          <p:cNvPr id="29" name="TextBox 28"/>
          <p:cNvSpPr txBox="1"/>
          <p:nvPr/>
        </p:nvSpPr>
        <p:spPr>
          <a:xfrm>
            <a:off x="4965192" y="1874519"/>
            <a:ext cx="3474720" cy="74980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YOLOv10n object boxes join person and pothole detections.</a:t>
            </a:r>
          </a:p>
        </p:txBody>
      </p:sp>
      <p:sp>
        <p:nvSpPr>
          <p:cNvPr id="30" name="TextBox 29"/>
          <p:cNvSpPr txBox="1"/>
          <p:nvPr/>
        </p:nvSpPr>
        <p:spPr>
          <a:xfrm>
            <a:off x="4965192" y="2724912"/>
            <a:ext cx="3474720" cy="338328"/>
          </a:xfrm>
          <a:prstGeom prst="rect">
            <a:avLst/>
          </a:prstGeom>
          <a:noFill/>
        </p:spPr>
        <p:txBody>
          <a:bodyPr wrap="square" lIns="22860" rIns="22860" tIns="13716" bIns="0">
            <a:spAutoFit/>
          </a:bodyPr>
          <a:lstStyle/>
          <a:p>
            <a:pPr algn="l">
              <a:spcAft>
                <a:spcPts val="300"/>
              </a:spcAft>
            </a:pPr>
            <a:r>
              <a:rPr sz="1800" b="1">
                <a:solidFill>
                  <a:srgbClr val="355CBC"/>
                </a:solidFill>
                <a:latin typeface="Times New Roman"/>
              </a:rPr>
              <a:t>Assess the path</a:t>
            </a:r>
          </a:p>
        </p:txBody>
      </p:sp>
      <p:sp>
        <p:nvSpPr>
          <p:cNvPr id="31" name="TextBox 30"/>
          <p:cNvSpPr txBox="1"/>
          <p:nvPr/>
        </p:nvSpPr>
        <p:spPr>
          <a:xfrm>
            <a:off x="4965192" y="3154680"/>
            <a:ext cx="3474720" cy="74980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Score left, center and right using box geometry, confidence and front sonar.</a:t>
            </a:r>
          </a:p>
        </p:txBody>
      </p:sp>
      <p:sp>
        <p:nvSpPr>
          <p:cNvPr id="32" name="TextBox 31"/>
          <p:cNvSpPr txBox="1"/>
          <p:nvPr/>
        </p:nvSpPr>
        <p:spPr>
          <a:xfrm>
            <a:off x="4965192" y="4005072"/>
            <a:ext cx="3474720" cy="338328"/>
          </a:xfrm>
          <a:prstGeom prst="rect">
            <a:avLst/>
          </a:prstGeom>
          <a:noFill/>
        </p:spPr>
        <p:txBody>
          <a:bodyPr wrap="square" lIns="22860" rIns="22860" tIns="13716" bIns="0">
            <a:spAutoFit/>
          </a:bodyPr>
          <a:lstStyle/>
          <a:p>
            <a:pPr algn="l">
              <a:spcAft>
                <a:spcPts val="300"/>
              </a:spcAft>
            </a:pPr>
            <a:r>
              <a:rPr sz="1800" b="1">
                <a:solidFill>
                  <a:srgbClr val="622423"/>
                </a:solidFill>
                <a:latin typeface="Times New Roman"/>
              </a:rPr>
              <a:t>Choose the motion</a:t>
            </a:r>
          </a:p>
        </p:txBody>
      </p:sp>
      <p:sp>
        <p:nvSpPr>
          <p:cNvPr id="33" name="TextBox 32"/>
          <p:cNvSpPr txBox="1"/>
          <p:nvPr/>
        </p:nvSpPr>
        <p:spPr>
          <a:xfrm>
            <a:off x="4965192" y="4434840"/>
            <a:ext cx="3474720" cy="749808"/>
          </a:xfrm>
          <a:prstGeom prst="rect">
            <a:avLst/>
          </a:prstGeom>
          <a:noFill/>
        </p:spPr>
        <p:txBody>
          <a:bodyPr wrap="square" lIns="22860" rIns="22860" tIns="13716" bIns="0">
            <a:spAutoFit/>
          </a:bodyPr>
          <a:lstStyle/>
          <a:p>
            <a:pPr algn="l">
              <a:spcAft>
                <a:spcPts val="300"/>
              </a:spcAft>
            </a:pPr>
            <a:r>
              <a:rPr sz="1500" b="0">
                <a:solidFill>
                  <a:srgbClr val="172D3C"/>
                </a:solidFill>
                <a:latin typeface="Times New Roman"/>
              </a:rPr>
              <a:t>Close central danger → STOP; otherwise slow or bypass toward a clearer side.</a:t>
            </a:r>
          </a:p>
        </p:txBody>
      </p:sp>
      <p:sp>
        <p:nvSpPr>
          <p:cNvPr id="34" name="Rounded Rectangle 33"/>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Safety arbitration takes priority over normal lane / follow guidance; Uno reflex states retain control.</a:t>
            </a:r>
          </a:p>
        </p:txBody>
      </p:sp>
      <p:sp>
        <p:nvSpPr>
          <p:cNvPr id="36" name="TextBox 35"/>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car/main.py _check_obstacle_ahead and mode handlers; perception/avoidance.py, Krishna main 9aeb238. Drawing is conceptual.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Lane Detection / Geometry to Steering</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CLASSICAL VISION  /  TRACK STRUCTURE WITHOUT ANOTHER NEURAL MODEL</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lane_detector.py and config.py, Krishna main 9aeb238. Diagram is illustrative image-space geometry, not a captured test.</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9</a:t>
            </a:r>
          </a:p>
        </p:txBody>
      </p:sp>
      <p:sp>
        <p:nvSpPr>
          <p:cNvPr id="7" name="Rounded Rectangle 6"/>
          <p:cNvSpPr/>
          <p:nvPr/>
        </p:nvSpPr>
        <p:spPr>
          <a:xfrm>
            <a:off x="594360" y="1335024"/>
            <a:ext cx="3794760" cy="3977639"/>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941832" y="1938528"/>
            <a:ext cx="3063240" cy="3081528"/>
          </a:xfrm>
          <a:custGeom>
            <a:avLst/>
            <a:gdLst/>
            <a:ahLst/>
            <a:cxnLst/>
            <a:rect l="l" t="t" r="r" b="b"/>
            <a:pathLst>
              <a:path w="3063240" h="3081528">
                <a:moveTo>
                  <a:pt x="0" y="3081528"/>
                </a:moveTo>
                <a:lnTo>
                  <a:pt x="768096" y="0"/>
                </a:lnTo>
                <a:lnTo>
                  <a:pt x="2331720" y="0"/>
                </a:lnTo>
                <a:lnTo>
                  <a:pt x="3063240" y="3081528"/>
                </a:lnTo>
                <a:close/>
              </a:path>
            </a:pathLst>
          </a:custGeom>
          <a:solidFill>
            <a:srgbClr val="2948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847088" y="2029968"/>
            <a:ext cx="365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50738" y="2146173"/>
            <a:ext cx="3099"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53837" y="2262378"/>
            <a:ext cx="200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55842" y="2378583"/>
            <a:ext cx="389"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854508" y="2494788"/>
            <a:ext cx="1723"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850214" y="2610993"/>
            <a:ext cx="4294"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842932" y="2727198"/>
            <a:ext cx="7282"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832299" y="2843403"/>
            <a:ext cx="10633"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818007" y="2959608"/>
            <a:ext cx="14292"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799813" y="3075813"/>
            <a:ext cx="18194"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777538" y="3192018"/>
            <a:ext cx="2227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751076" y="3308223"/>
            <a:ext cx="26462"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720388" y="3424428"/>
            <a:ext cx="3068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685513" y="3540633"/>
            <a:ext cx="3487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646557" y="3656838"/>
            <a:ext cx="38956"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603699" y="3773043"/>
            <a:ext cx="4285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557182" y="3889248"/>
            <a:ext cx="46517"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507314" y="4005453"/>
            <a:ext cx="4986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454458" y="4121658"/>
            <a:ext cx="52856"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399032" y="4237863"/>
            <a:ext cx="55426"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341492" y="4354068"/>
            <a:ext cx="5754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282337" y="4470273"/>
            <a:ext cx="5915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222088" y="4586478"/>
            <a:ext cx="60249"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161288" y="4702683"/>
            <a:ext cx="6080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090672" y="2029968"/>
            <a:ext cx="61562"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52234" y="2146173"/>
            <a:ext cx="61011"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213245" y="2262378"/>
            <a:ext cx="59917"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73162" y="2378583"/>
            <a:ext cx="58302"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331464" y="2494788"/>
            <a:ext cx="5618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387652" y="2610993"/>
            <a:ext cx="5361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1270" y="2727198"/>
            <a:ext cx="5063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491900" y="2843403"/>
            <a:ext cx="47279"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539179" y="2959608"/>
            <a:ext cx="4362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582799" y="3075813"/>
            <a:ext cx="39718"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622517" y="3192018"/>
            <a:ext cx="35637"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3658154" y="3308223"/>
            <a:ext cx="31450"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689604" y="3424428"/>
            <a:ext cx="27224"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716828" y="3540633"/>
            <a:ext cx="23037"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739865" y="3656838"/>
            <a:ext cx="18956"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758821" y="3773043"/>
            <a:ext cx="15054"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773875" y="3889248"/>
            <a:ext cx="1139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785270" y="4005453"/>
            <a:ext cx="8044"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793314" y="4121658"/>
            <a:ext cx="5056"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798370" y="4237863"/>
            <a:ext cx="2485"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800855" y="4354068"/>
            <a:ext cx="373"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3799985" y="4470273"/>
            <a:ext cx="1243"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3797648" y="4586478"/>
            <a:ext cx="2337"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3794759" y="4702683"/>
            <a:ext cx="2889" cy="116205"/>
          </a:xfrm>
          <a:prstGeom prst="line">
            <a:avLst/>
          </a:prstGeom>
          <a:ln w="38100">
            <a:solidFill>
              <a:srgbClr val="F9CC5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468880" y="2029968"/>
            <a:ext cx="32606"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501486" y="2146173"/>
            <a:ext cx="32055"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533541" y="2262378"/>
            <a:ext cx="30961"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564502" y="2378583"/>
            <a:ext cx="29346"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593848" y="2494788"/>
            <a:ext cx="2723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621080" y="2610993"/>
            <a:ext cx="2466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645742" y="2727198"/>
            <a:ext cx="21674"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667416" y="2843403"/>
            <a:ext cx="18323"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685739" y="2959608"/>
            <a:ext cx="14664"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700403" y="3075813"/>
            <a:ext cx="1076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711165" y="3192018"/>
            <a:ext cx="6681"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2717846" y="3308223"/>
            <a:ext cx="2494"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2718608" y="3424428"/>
            <a:ext cx="173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2712689" y="3540633"/>
            <a:ext cx="5919"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2702689" y="3656838"/>
            <a:ext cx="10000"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2688787" y="3773043"/>
            <a:ext cx="1390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2671226" y="3889248"/>
            <a:ext cx="17561"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2650314" y="4005453"/>
            <a:ext cx="20912"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2626414" y="4121658"/>
            <a:ext cx="23900"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2599944" y="4237863"/>
            <a:ext cx="26470"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2571360" y="4354068"/>
            <a:ext cx="28584"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2541161" y="4470273"/>
            <a:ext cx="30199"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2509868" y="4586478"/>
            <a:ext cx="31293"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2478024" y="4702683"/>
            <a:ext cx="31844" cy="116205"/>
          </a:xfrm>
          <a:prstGeom prst="line">
            <a:avLst/>
          </a:prstGeom>
          <a:ln w="29209">
            <a:solidFill>
              <a:srgbClr val="44D8CA"/>
            </a:solidFill>
          </a:ln>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734965" y="2157984"/>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094373" y="2157984"/>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731342" y="2651760"/>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322398" y="2651760"/>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680941" y="3145536"/>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503645" y="3145536"/>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66641" y="3639312"/>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3620993" y="3639312"/>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335586" y="4133088"/>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679498" y="4133088"/>
            <a:ext cx="237744" cy="265176"/>
          </a:xfrm>
          <a:prstGeom prst="rect">
            <a:avLst/>
          </a:prstGeom>
          <a:solidFill>
            <a:srgbClr val="476D79"/>
          </a:solidFill>
          <a:ln w="8890">
            <a:solidFill>
              <a:srgbClr val="96B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813816" y="3483864"/>
            <a:ext cx="3319271" cy="0"/>
          </a:xfrm>
          <a:prstGeom prst="line">
            <a:avLst/>
          </a:prstGeom>
          <a:ln w="12700">
            <a:solidFill>
              <a:srgbClr val="88AFBF"/>
            </a:solidFill>
            <a:prstDash val="dash"/>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2633472" y="3410712"/>
            <a:ext cx="146304" cy="146304"/>
          </a:xfrm>
          <a:prstGeom prst="ellipse">
            <a:avLst/>
          </a:prstGeom>
          <a:solidFill>
            <a:srgbClr val="44D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2212848" y="4681728"/>
            <a:ext cx="530352" cy="448056"/>
          </a:xfrm>
          <a:prstGeom prst="roundRect">
            <a:avLst>
              <a:gd name="adj" fmla="val 10000"/>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2478024" y="3483864"/>
            <a:ext cx="0" cy="1197864"/>
          </a:xfrm>
          <a:prstGeom prst="line">
            <a:avLst/>
          </a:prstGeom>
          <a:ln w="12700">
            <a:solidFill>
              <a:srgbClr val="FFFFFF"/>
            </a:solidFill>
            <a:prstDash val="dash"/>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813816" y="5084064"/>
            <a:ext cx="3337560" cy="210312"/>
          </a:xfrm>
          <a:prstGeom prst="rect">
            <a:avLst/>
          </a:prstGeom>
          <a:noFill/>
        </p:spPr>
        <p:txBody>
          <a:bodyPr wrap="square" lIns="22860" rIns="22860" tIns="13716" bIns="0">
            <a:spAutoFit/>
          </a:bodyPr>
          <a:lstStyle/>
          <a:p>
            <a:pPr algn="ctr">
              <a:spcAft>
                <a:spcPts val="300"/>
              </a:spcAft>
            </a:pPr>
            <a:r>
              <a:rPr sz="1100" b="0">
                <a:solidFill>
                  <a:srgbClr val="FFFFFF"/>
                </a:solidFill>
                <a:latin typeface="Times New Roman"/>
              </a:rPr>
              <a:t>Yellow: boundaries  •  teal: desired center</a:t>
            </a:r>
          </a:p>
        </p:txBody>
      </p:sp>
      <p:sp>
        <p:nvSpPr>
          <p:cNvPr id="98" name="TextBox 97"/>
          <p:cNvSpPr txBox="1"/>
          <p:nvPr/>
        </p:nvSpPr>
        <p:spPr>
          <a:xfrm>
            <a:off x="4663440" y="1371600"/>
            <a:ext cx="36576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1  Mask + isolate</a:t>
            </a:r>
          </a:p>
        </p:txBody>
      </p:sp>
      <p:sp>
        <p:nvSpPr>
          <p:cNvPr id="100" name="TextBox 99"/>
          <p:cNvSpPr txBox="1"/>
          <p:nvPr/>
        </p:nvSpPr>
        <p:spPr>
          <a:xfrm>
            <a:off x="4663440" y="2404872"/>
            <a:ext cx="36576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2  Fit + stabilize</a:t>
            </a:r>
          </a:p>
        </p:txBody>
      </p:sp>
      <p:sp>
        <p:nvSpPr>
          <p:cNvPr id="102" name="TextBox 101"/>
          <p:cNvSpPr txBox="1"/>
          <p:nvPr/>
        </p:nvSpPr>
        <p:spPr>
          <a:xfrm>
            <a:off x="4663440" y="3438144"/>
            <a:ext cx="36576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3  Guide + recover</a:t>
            </a:r>
          </a:p>
        </p:txBody>
      </p:sp>
      <p:sp>
        <p:nvSpPr>
          <p:cNvPr id="104" name="Rounded Rectangle 103"/>
          <p:cNvSpPr/>
          <p:nvPr/>
        </p:nvSpPr>
        <p:spPr>
          <a:xfrm>
            <a:off x="4617720" y="4590288"/>
            <a:ext cx="3913632" cy="704088"/>
          </a:xfrm>
          <a:prstGeom prst="roundRect">
            <a:avLst>
              <a:gd name="adj" fmla="val 10000"/>
            </a:avLst>
          </a:prstGeom>
          <a:solidFill>
            <a:srgbClr val="E6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77240" y="1481328"/>
            <a:ext cx="3474720" cy="219456"/>
          </a:xfrm>
          <a:prstGeom prst="rect">
            <a:avLst/>
          </a:prstGeom>
          <a:noFill/>
        </p:spPr>
        <p:txBody>
          <a:bodyPr wrap="square" lIns="22860" rIns="22860" tIns="13716" bIns="0">
            <a:spAutoFit/>
          </a:bodyPr>
          <a:lstStyle/>
          <a:p>
            <a:pPr algn="l">
              <a:spcAft>
                <a:spcPts val="300"/>
              </a:spcAft>
            </a:pPr>
            <a:r>
              <a:rPr sz="1200" b="1">
                <a:solidFill>
                  <a:srgbClr val="FFFFFF"/>
                </a:solidFill>
                <a:latin typeface="Times New Roman"/>
              </a:rPr>
              <a:t>IMAGE SPACE  •  TRACK REGION</a:t>
            </a:r>
          </a:p>
        </p:txBody>
      </p:sp>
      <p:sp>
        <p:nvSpPr>
          <p:cNvPr id="109" name="TextBox 108"/>
          <p:cNvSpPr txBox="1"/>
          <p:nvPr/>
        </p:nvSpPr>
        <p:spPr>
          <a:xfrm>
            <a:off x="914400" y="3575304"/>
            <a:ext cx="1554480" cy="338328"/>
          </a:xfrm>
          <a:prstGeom prst="rect">
            <a:avLst/>
          </a:prstGeom>
          <a:noFill/>
        </p:spPr>
        <p:txBody>
          <a:bodyPr wrap="square" lIns="22860" rIns="22860" tIns="13716" bIns="0">
            <a:spAutoFit/>
          </a:bodyPr>
          <a:lstStyle/>
          <a:p>
            <a:pPr algn="l">
              <a:spcAft>
                <a:spcPts val="300"/>
              </a:spcAft>
            </a:pPr>
            <a:r>
              <a:rPr sz="1550" b="1">
                <a:solidFill>
                  <a:srgbClr val="FFFFFF"/>
                </a:solidFill>
                <a:latin typeface="Times New Roman"/>
              </a:rPr>
              <a:t>Lookahead row</a:t>
            </a:r>
          </a:p>
        </p:txBody>
      </p:sp>
      <p:sp>
        <p:nvSpPr>
          <p:cNvPr id="110" name="TextBox 109"/>
          <p:cNvSpPr txBox="1"/>
          <p:nvPr/>
        </p:nvSpPr>
        <p:spPr>
          <a:xfrm>
            <a:off x="4663440" y="1673352"/>
            <a:ext cx="3767328" cy="65836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Mask lane colors in the lower-frame region.</a:t>
            </a:r>
          </a:p>
          <a:p>
            <a:pPr algn="l">
              <a:spcAft>
                <a:spcPts val="300"/>
              </a:spcAft>
            </a:pPr>
            <a:r>
              <a:rPr sz="1550" b="0">
                <a:solidFill>
                  <a:srgbClr val="172D3C"/>
                </a:solidFill>
                <a:latin typeface="Times New Roman"/>
              </a:rPr>
              <a:t>Exclude overlapping hazard boxes.</a:t>
            </a:r>
          </a:p>
        </p:txBody>
      </p:sp>
      <p:sp>
        <p:nvSpPr>
          <p:cNvPr id="111" name="TextBox 110"/>
          <p:cNvSpPr txBox="1"/>
          <p:nvPr/>
        </p:nvSpPr>
        <p:spPr>
          <a:xfrm>
            <a:off x="4663440" y="2706624"/>
            <a:ext cx="3767328" cy="65836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Sliding-window pixel search → robust curves.</a:t>
            </a:r>
          </a:p>
          <a:p>
            <a:pPr algn="l">
              <a:spcAft>
                <a:spcPts val="300"/>
              </a:spcAft>
            </a:pPr>
            <a:r>
              <a:rPr sz="1550" b="0">
                <a:solidFill>
                  <a:srgbClr val="172D3C"/>
                </a:solidFill>
                <a:latin typeface="Times New Roman"/>
              </a:rPr>
              <a:t>Smooth across frames; reject sudden jumps.</a:t>
            </a:r>
          </a:p>
        </p:txBody>
      </p:sp>
      <p:sp>
        <p:nvSpPr>
          <p:cNvPr id="112" name="TextBox 111"/>
          <p:cNvSpPr txBox="1"/>
          <p:nvPr/>
        </p:nvSpPr>
        <p:spPr>
          <a:xfrm>
            <a:off x="4663440" y="3739896"/>
            <a:ext cx="3767328" cy="658368"/>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Estimate center from both lines or one.</a:t>
            </a:r>
          </a:p>
          <a:p>
            <a:pPr algn="l">
              <a:spcAft>
                <a:spcPts val="300"/>
              </a:spcAft>
            </a:pPr>
            <a:r>
              <a:rPr sz="1550" b="0">
                <a:solidFill>
                  <a:srgbClr val="172D3C"/>
                </a:solidFill>
                <a:latin typeface="Times New Roman"/>
              </a:rPr>
              <a:t>Guide motion; prolonged lane loss → STOP.</a:t>
            </a:r>
          </a:p>
        </p:txBody>
      </p:sp>
      <p:sp>
        <p:nvSpPr>
          <p:cNvPr id="113" name="TextBox 112"/>
          <p:cNvSpPr txBox="1"/>
          <p:nvPr/>
        </p:nvSpPr>
        <p:spPr>
          <a:xfrm>
            <a:off x="4727448" y="4663440"/>
            <a:ext cx="3694176" cy="566928"/>
          </a:xfrm>
          <a:prstGeom prst="rect">
            <a:avLst/>
          </a:prstGeom>
          <a:noFill/>
        </p:spPr>
        <p:txBody>
          <a:bodyPr wrap="square" lIns="22860" rIns="22860" tIns="13716" bIns="0">
            <a:spAutoFit/>
          </a:bodyPr>
          <a:lstStyle/>
          <a:p>
            <a:pPr algn="ctr">
              <a:spcAft>
                <a:spcPts val="300"/>
              </a:spcAft>
            </a:pPr>
            <a:r>
              <a:rPr sz="1450" b="1">
                <a:solidFill>
                  <a:srgbClr val="087F8C"/>
                </a:solidFill>
                <a:latin typeface="Times New Roman"/>
              </a:rPr>
              <a:t>Steer toward the lane center</a:t>
            </a:r>
          </a:p>
          <a:p>
            <a:pPr algn="ctr">
              <a:spcAft>
                <a:spcPts val="300"/>
              </a:spcAft>
            </a:pPr>
            <a:r>
              <a:rPr sz="1450" b="1">
                <a:solidFill>
                  <a:srgbClr val="087F8C"/>
                </a:solidFill>
                <a:latin typeface="Times New Roman"/>
              </a:rPr>
              <a:t>while respecting the path direction.</a:t>
            </a:r>
          </a:p>
        </p:txBody>
      </p:sp>
      <p:sp>
        <p:nvSpPr>
          <p:cNvPr id="114" name="Rounded Rectangle 113"/>
          <p:cNvSpPr/>
          <p:nvPr/>
        </p:nvSpPr>
        <p:spPr>
          <a:xfrm>
            <a:off x="548640" y="5513832"/>
            <a:ext cx="8046720" cy="347472"/>
          </a:xfrm>
          <a:prstGeom prst="roundRect">
            <a:avLst>
              <a:gd name="adj" fmla="val 10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Lane geometry supplies direction; confidence and loss handling determine when guidance can continue.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Pothole Detection / Learning and Decisions</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FROM VISUAL HAZARD TO RESPONSE  /  A MODEL OUTPUT YOU CAN EXPLAIN</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10</a:t>
            </a:r>
          </a:p>
        </p:txBody>
      </p:sp>
      <p:sp>
        <p:nvSpPr>
          <p:cNvPr id="7" name="Rounded Rectangle 6"/>
          <p:cNvSpPr/>
          <p:nvPr/>
        </p:nvSpPr>
        <p:spPr>
          <a:xfrm>
            <a:off x="621792" y="1353312"/>
            <a:ext cx="4251960" cy="3922776"/>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al_batch0_pred.jpg"/>
          <p:cNvPicPr>
            <a:picLocks noChangeAspect="1"/>
          </p:cNvPicPr>
          <p:nvPr/>
        </p:nvPicPr>
        <p:blipFill>
          <a:blip r:embed="rId3"/>
          <a:srcRect l="75000" b="75000"/>
          <a:stretch>
            <a:fillRect/>
          </a:stretch>
        </p:blipFill>
        <p:spPr>
          <a:xfrm>
            <a:off x="777240" y="1527048"/>
            <a:ext cx="3941063" cy="3099816"/>
          </a:xfrm>
          <a:prstGeom prst="rect">
            <a:avLst/>
          </a:prstGeom>
        </p:spPr>
      </p:pic>
      <p:sp>
        <p:nvSpPr>
          <p:cNvPr id="9" name="TextBox 8"/>
          <p:cNvSpPr txBox="1"/>
          <p:nvPr/>
        </p:nvSpPr>
        <p:spPr>
          <a:xfrm>
            <a:off x="822960" y="4800600"/>
            <a:ext cx="3813048" cy="365760"/>
          </a:xfrm>
          <a:prstGeom prst="rect">
            <a:avLst/>
          </a:prstGeom>
          <a:noFill/>
        </p:spPr>
        <p:txBody>
          <a:bodyPr wrap="square" lIns="22860" rIns="22860" tIns="13716" bIns="0">
            <a:spAutoFit/>
          </a:bodyPr>
          <a:lstStyle/>
          <a:p>
            <a:pPr algn="ctr">
              <a:spcAft>
                <a:spcPts val="300"/>
              </a:spcAft>
            </a:pPr>
            <a:r>
              <a:rPr sz="1600" b="1">
                <a:solidFill>
                  <a:srgbClr val="087F8C"/>
                </a:solidFill>
                <a:latin typeface="Times New Roman"/>
              </a:rPr>
              <a:t>Actual logged prediction on a printout</a:t>
            </a:r>
          </a:p>
        </p:txBody>
      </p:sp>
      <p:sp>
        <p:nvSpPr>
          <p:cNvPr id="10" name="Oval 9"/>
          <p:cNvSpPr/>
          <p:nvPr/>
        </p:nvSpPr>
        <p:spPr>
          <a:xfrm>
            <a:off x="5212080" y="1527048"/>
            <a:ext cx="228600" cy="22860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05272" y="1499616"/>
            <a:ext cx="2761488" cy="365760"/>
          </a:xfrm>
          <a:prstGeom prst="rect">
            <a:avLst/>
          </a:prstGeom>
          <a:noFill/>
        </p:spPr>
        <p:txBody>
          <a:bodyPr wrap="square" lIns="22860" rIns="22860" tIns="13716" bIns="0">
            <a:spAutoFit/>
          </a:bodyPr>
          <a:lstStyle/>
          <a:p>
            <a:pPr algn="l">
              <a:spcAft>
                <a:spcPts val="300"/>
              </a:spcAft>
            </a:pPr>
            <a:r>
              <a:rPr sz="1750" b="1">
                <a:solidFill>
                  <a:srgbClr val="087F8C"/>
                </a:solidFill>
                <a:latin typeface="Times New Roman"/>
              </a:rPr>
              <a:t>Detect road damage</a:t>
            </a:r>
          </a:p>
        </p:txBody>
      </p:sp>
      <p:sp>
        <p:nvSpPr>
          <p:cNvPr id="12" name="TextBox 11"/>
          <p:cNvSpPr txBox="1"/>
          <p:nvPr/>
        </p:nvSpPr>
        <p:spPr>
          <a:xfrm>
            <a:off x="5605272" y="1956815"/>
            <a:ext cx="2761488" cy="722376"/>
          </a:xfrm>
          <a:prstGeom prst="rect">
            <a:avLst/>
          </a:prstGeom>
          <a:noFill/>
        </p:spPr>
        <p:txBody>
          <a:bodyPr wrap="square" lIns="22860" rIns="22860" tIns="13716" bIns="0">
            <a:spAutoFit/>
          </a:bodyPr>
          <a:lstStyle/>
          <a:p>
            <a:pPr algn="l">
              <a:spcAft>
                <a:spcPts val="300"/>
              </a:spcAft>
            </a:pPr>
            <a:r>
              <a:rPr sz="1450" b="0">
                <a:solidFill>
                  <a:srgbClr val="172D3C"/>
                </a:solidFill>
                <a:latin typeface="Times New Roman"/>
              </a:rPr>
              <a:t>D40 model adapted to printed</a:t>
            </a:r>
          </a:p>
          <a:p>
            <a:pPr algn="l">
              <a:spcAft>
                <a:spcPts val="300"/>
              </a:spcAft>
            </a:pPr>
            <a:r>
              <a:rPr sz="1450" b="0">
                <a:solidFill>
                  <a:srgbClr val="172D3C"/>
                </a:solidFill>
                <a:latin typeface="Times New Roman"/>
              </a:rPr>
              <a:t>road-damage scenes.</a:t>
            </a:r>
          </a:p>
        </p:txBody>
      </p:sp>
      <p:sp>
        <p:nvSpPr>
          <p:cNvPr id="13" name="Oval 12"/>
          <p:cNvSpPr/>
          <p:nvPr/>
        </p:nvSpPr>
        <p:spPr>
          <a:xfrm>
            <a:off x="5212080" y="2788920"/>
            <a:ext cx="228600" cy="228600"/>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05272" y="2761488"/>
            <a:ext cx="2761488" cy="365760"/>
          </a:xfrm>
          <a:prstGeom prst="rect">
            <a:avLst/>
          </a:prstGeom>
          <a:noFill/>
        </p:spPr>
        <p:txBody>
          <a:bodyPr wrap="square" lIns="22860" rIns="22860" tIns="13716" bIns="0">
            <a:spAutoFit/>
          </a:bodyPr>
          <a:lstStyle/>
          <a:p>
            <a:pPr algn="l">
              <a:spcAft>
                <a:spcPts val="300"/>
              </a:spcAft>
            </a:pPr>
            <a:r>
              <a:rPr sz="1750" b="1">
                <a:solidFill>
                  <a:srgbClr val="355CBC"/>
                </a:solidFill>
                <a:latin typeface="Times New Roman"/>
              </a:rPr>
              <a:t>Filter candidate boxes</a:t>
            </a:r>
          </a:p>
        </p:txBody>
      </p:sp>
      <p:sp>
        <p:nvSpPr>
          <p:cNvPr id="15" name="TextBox 14"/>
          <p:cNvSpPr txBox="1"/>
          <p:nvPr/>
        </p:nvSpPr>
        <p:spPr>
          <a:xfrm>
            <a:off x="5605272" y="3218687"/>
            <a:ext cx="2761488" cy="722376"/>
          </a:xfrm>
          <a:prstGeom prst="rect">
            <a:avLst/>
          </a:prstGeom>
          <a:noFill/>
        </p:spPr>
        <p:txBody>
          <a:bodyPr wrap="square" lIns="22860" rIns="22860" tIns="13716" bIns="0">
            <a:spAutoFit/>
          </a:bodyPr>
          <a:lstStyle/>
          <a:p>
            <a:pPr algn="l">
              <a:spcAft>
                <a:spcPts val="300"/>
              </a:spcAft>
            </a:pPr>
            <a:r>
              <a:rPr sz="1450" b="0">
                <a:solidFill>
                  <a:srgbClr val="172D3C"/>
                </a:solidFill>
                <a:latin typeface="Times New Roman"/>
              </a:rPr>
              <a:t>Apply confidence and lower-image</a:t>
            </a:r>
          </a:p>
          <a:p>
            <a:pPr algn="l">
              <a:spcAft>
                <a:spcPts val="300"/>
              </a:spcAft>
            </a:pPr>
            <a:r>
              <a:rPr sz="1450" b="0">
                <a:solidFill>
                  <a:srgbClr val="172D3C"/>
                </a:solidFill>
                <a:latin typeface="Times New Roman"/>
              </a:rPr>
              <a:t>checks to accept relevant boxes.</a:t>
            </a:r>
          </a:p>
        </p:txBody>
      </p:sp>
      <p:sp>
        <p:nvSpPr>
          <p:cNvPr id="16" name="Oval 15"/>
          <p:cNvSpPr/>
          <p:nvPr/>
        </p:nvSpPr>
        <p:spPr>
          <a:xfrm>
            <a:off x="5212080" y="4050791"/>
            <a:ext cx="228600" cy="228600"/>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5272" y="4023359"/>
            <a:ext cx="2761488" cy="365760"/>
          </a:xfrm>
          <a:prstGeom prst="rect">
            <a:avLst/>
          </a:prstGeom>
          <a:noFill/>
        </p:spPr>
        <p:txBody>
          <a:bodyPr wrap="square" lIns="22860" rIns="22860" tIns="13716" bIns="0">
            <a:spAutoFit/>
          </a:bodyPr>
          <a:lstStyle/>
          <a:p>
            <a:pPr algn="l">
              <a:spcAft>
                <a:spcPts val="300"/>
              </a:spcAft>
            </a:pPr>
            <a:r>
              <a:rPr sz="1750" b="1">
                <a:solidFill>
                  <a:srgbClr val="622423"/>
                </a:solidFill>
                <a:latin typeface="Times New Roman"/>
              </a:rPr>
              <a:t>Choose a safe response</a:t>
            </a:r>
          </a:p>
        </p:txBody>
      </p:sp>
      <p:sp>
        <p:nvSpPr>
          <p:cNvPr id="18" name="TextBox 17"/>
          <p:cNvSpPr txBox="1"/>
          <p:nvPr/>
        </p:nvSpPr>
        <p:spPr>
          <a:xfrm>
            <a:off x="5605272" y="4480559"/>
            <a:ext cx="2761488" cy="722376"/>
          </a:xfrm>
          <a:prstGeom prst="rect">
            <a:avLst/>
          </a:prstGeom>
          <a:noFill/>
        </p:spPr>
        <p:txBody>
          <a:bodyPr wrap="square" lIns="22860" rIns="22860" tIns="13716" bIns="0">
            <a:spAutoFit/>
          </a:bodyPr>
          <a:lstStyle/>
          <a:p>
            <a:pPr algn="l">
              <a:spcAft>
                <a:spcPts val="300"/>
              </a:spcAft>
            </a:pPr>
            <a:r>
              <a:rPr sz="1450" b="0">
                <a:solidFill>
                  <a:srgbClr val="172D3C"/>
                </a:solidFill>
                <a:latin typeface="Times New Roman"/>
              </a:rPr>
              <a:t>Feed boxes into stop / bypass logic;</a:t>
            </a:r>
          </a:p>
          <a:p>
            <a:pPr algn="l">
              <a:spcAft>
                <a:spcPts val="300"/>
              </a:spcAft>
            </a:pPr>
            <a:r>
              <a:rPr sz="1450" b="0">
                <a:solidFill>
                  <a:srgbClr val="172D3C"/>
                </a:solidFill>
                <a:latin typeface="Times New Roman"/>
              </a:rPr>
              <a:t>sonar adds proximity information.</a:t>
            </a:r>
          </a:p>
        </p:txBody>
      </p:sp>
      <p:sp>
        <p:nvSpPr>
          <p:cNvPr id="19" name="Rounded Rectangle 18"/>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193" b="1">
                <a:solidFill>
                  <a:srgbClr val="FFFFFF"/>
                </a:solidFill>
                <a:latin typeface="Times New Roman"/>
              </a:rPr>
              <a:t>Road-damage and printout validation are different domains; their logged scores are shown together on the results slide.</a:t>
            </a:r>
          </a:p>
        </p:txBody>
      </p:sp>
      <p:sp>
        <p:nvSpPr>
          <p:cNvPr id="21" name="TextBox 20"/>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detector.py; printout_gpu_pothole_model/val_batch0_pred.jpg, Krishna main 9aeb238. This is logged model output, not track-test proof.</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Traffic Signs / Train → Confirm → Act</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FOUR-CLASS TRAINED EXTENSION  /  DELIVERED SEPARATELY FROM KRISHNA MAIN</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Traffic Sign/MODEL_CARD.md, heldout_summary.json, action_check_ncnn.json and main.py / traffic_sign_policy.py.</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11</a:t>
            </a:r>
          </a:p>
        </p:txBody>
      </p:sp>
      <p:sp>
        <p:nvSpPr>
          <p:cNvPr id="7" name="Rounded Rectangle 6"/>
          <p:cNvSpPr/>
          <p:nvPr/>
        </p:nvSpPr>
        <p:spPr>
          <a:xfrm>
            <a:off x="612648" y="1353312"/>
            <a:ext cx="1865376" cy="16093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op.png"/>
          <p:cNvPicPr>
            <a:picLocks noChangeAspect="1"/>
          </p:cNvPicPr>
          <p:nvPr/>
        </p:nvPicPr>
        <p:blipFill>
          <a:blip r:embed="rId2"/>
          <a:stretch>
            <a:fillRect/>
          </a:stretch>
        </p:blipFill>
        <p:spPr>
          <a:xfrm>
            <a:off x="1069848" y="1435608"/>
            <a:ext cx="950976" cy="950976"/>
          </a:xfrm>
          <a:prstGeom prst="rect">
            <a:avLst/>
          </a:prstGeom>
        </p:spPr>
      </p:pic>
      <p:sp>
        <p:nvSpPr>
          <p:cNvPr id="9" name="TextBox 8"/>
          <p:cNvSpPr txBox="1"/>
          <p:nvPr/>
        </p:nvSpPr>
        <p:spPr>
          <a:xfrm>
            <a:off x="667512" y="2414016"/>
            <a:ext cx="1755648" cy="228600"/>
          </a:xfrm>
          <a:prstGeom prst="rect">
            <a:avLst/>
          </a:prstGeom>
          <a:noFill/>
        </p:spPr>
        <p:txBody>
          <a:bodyPr wrap="square" lIns="22860" rIns="22860" tIns="13716" bIns="0">
            <a:spAutoFit/>
          </a:bodyPr>
          <a:lstStyle/>
          <a:p>
            <a:pPr algn="ctr">
              <a:spcAft>
                <a:spcPts val="300"/>
              </a:spcAft>
            </a:pPr>
            <a:r>
              <a:rPr sz="1400" b="1">
                <a:solidFill>
                  <a:srgbClr val="AD3345"/>
                </a:solidFill>
                <a:latin typeface="Times New Roman"/>
              </a:rPr>
              <a:t>STOP</a:t>
            </a:r>
          </a:p>
        </p:txBody>
      </p:sp>
      <p:sp>
        <p:nvSpPr>
          <p:cNvPr id="10" name="TextBox 9"/>
          <p:cNvSpPr txBox="1"/>
          <p:nvPr/>
        </p:nvSpPr>
        <p:spPr>
          <a:xfrm>
            <a:off x="649224" y="2706624"/>
            <a:ext cx="1792224" cy="228600"/>
          </a:xfrm>
          <a:prstGeom prst="rect">
            <a:avLst/>
          </a:prstGeom>
          <a:noFill/>
        </p:spPr>
        <p:txBody>
          <a:bodyPr wrap="square" lIns="22860" rIns="22860" tIns="13716" bIns="0">
            <a:spAutoFit/>
          </a:bodyPr>
          <a:lstStyle/>
          <a:p>
            <a:pPr algn="ctr">
              <a:spcAft>
                <a:spcPts val="300"/>
              </a:spcAft>
            </a:pPr>
            <a:r>
              <a:rPr sz="1250" b="0">
                <a:solidFill>
                  <a:srgbClr val="172D3C"/>
                </a:solidFill>
                <a:latin typeface="Times New Roman"/>
              </a:rPr>
              <a:t>Stop dwell: 3 s</a:t>
            </a:r>
          </a:p>
        </p:txBody>
      </p:sp>
      <p:sp>
        <p:nvSpPr>
          <p:cNvPr id="11" name="Rounded Rectangle 10"/>
          <p:cNvSpPr/>
          <p:nvPr/>
        </p:nvSpPr>
        <p:spPr>
          <a:xfrm>
            <a:off x="2642616" y="1353312"/>
            <a:ext cx="1865376" cy="16093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no_entry.png"/>
          <p:cNvPicPr>
            <a:picLocks noChangeAspect="1"/>
          </p:cNvPicPr>
          <p:nvPr/>
        </p:nvPicPr>
        <p:blipFill>
          <a:blip r:embed="rId3"/>
          <a:stretch>
            <a:fillRect/>
          </a:stretch>
        </p:blipFill>
        <p:spPr>
          <a:xfrm>
            <a:off x="3099816" y="1435608"/>
            <a:ext cx="950976" cy="950976"/>
          </a:xfrm>
          <a:prstGeom prst="rect">
            <a:avLst/>
          </a:prstGeom>
        </p:spPr>
      </p:pic>
      <p:sp>
        <p:nvSpPr>
          <p:cNvPr id="13" name="TextBox 12"/>
          <p:cNvSpPr txBox="1"/>
          <p:nvPr/>
        </p:nvSpPr>
        <p:spPr>
          <a:xfrm>
            <a:off x="2697480" y="2414016"/>
            <a:ext cx="1755648" cy="228600"/>
          </a:xfrm>
          <a:prstGeom prst="rect">
            <a:avLst/>
          </a:prstGeom>
          <a:noFill/>
        </p:spPr>
        <p:txBody>
          <a:bodyPr wrap="square" lIns="22860" rIns="22860" tIns="13716" bIns="0">
            <a:spAutoFit/>
          </a:bodyPr>
          <a:lstStyle/>
          <a:p>
            <a:pPr algn="ctr">
              <a:spcAft>
                <a:spcPts val="300"/>
              </a:spcAft>
            </a:pPr>
            <a:r>
              <a:rPr sz="1400" b="1">
                <a:solidFill>
                  <a:srgbClr val="622423"/>
                </a:solidFill>
                <a:latin typeface="Times New Roman"/>
              </a:rPr>
              <a:t>NO ENTRY</a:t>
            </a:r>
          </a:p>
        </p:txBody>
      </p:sp>
      <p:sp>
        <p:nvSpPr>
          <p:cNvPr id="14" name="TextBox 13"/>
          <p:cNvSpPr txBox="1"/>
          <p:nvPr/>
        </p:nvSpPr>
        <p:spPr>
          <a:xfrm>
            <a:off x="2679192" y="2706624"/>
            <a:ext cx="1792224" cy="228600"/>
          </a:xfrm>
          <a:prstGeom prst="rect">
            <a:avLst/>
          </a:prstGeom>
          <a:noFill/>
        </p:spPr>
        <p:txBody>
          <a:bodyPr wrap="square" lIns="22860" rIns="22860" tIns="13716" bIns="0">
            <a:spAutoFit/>
          </a:bodyPr>
          <a:lstStyle/>
          <a:p>
            <a:pPr algn="ctr">
              <a:spcAft>
                <a:spcPts val="300"/>
              </a:spcAft>
            </a:pPr>
            <a:r>
              <a:rPr sz="1250" b="0">
                <a:solidFill>
                  <a:srgbClr val="172D3C"/>
                </a:solidFill>
                <a:latin typeface="Times New Roman"/>
              </a:rPr>
              <a:t>Hold until reset</a:t>
            </a:r>
          </a:p>
        </p:txBody>
      </p:sp>
      <p:sp>
        <p:nvSpPr>
          <p:cNvPr id="15" name="Rounded Rectangle 14"/>
          <p:cNvSpPr/>
          <p:nvPr/>
        </p:nvSpPr>
        <p:spPr>
          <a:xfrm>
            <a:off x="4672584" y="1353312"/>
            <a:ext cx="1865376" cy="16093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urn_left.png"/>
          <p:cNvPicPr>
            <a:picLocks noChangeAspect="1"/>
          </p:cNvPicPr>
          <p:nvPr/>
        </p:nvPicPr>
        <p:blipFill>
          <a:blip r:embed="rId4"/>
          <a:stretch>
            <a:fillRect/>
          </a:stretch>
        </p:blipFill>
        <p:spPr>
          <a:xfrm>
            <a:off x="5129783" y="1435608"/>
            <a:ext cx="950976" cy="950976"/>
          </a:xfrm>
          <a:prstGeom prst="rect">
            <a:avLst/>
          </a:prstGeom>
        </p:spPr>
      </p:pic>
      <p:sp>
        <p:nvSpPr>
          <p:cNvPr id="17" name="TextBox 16"/>
          <p:cNvSpPr txBox="1"/>
          <p:nvPr/>
        </p:nvSpPr>
        <p:spPr>
          <a:xfrm>
            <a:off x="4727448" y="2414016"/>
            <a:ext cx="1755648" cy="228600"/>
          </a:xfrm>
          <a:prstGeom prst="rect">
            <a:avLst/>
          </a:prstGeom>
          <a:noFill/>
        </p:spPr>
        <p:txBody>
          <a:bodyPr wrap="square" lIns="22860" rIns="22860" tIns="13716" bIns="0">
            <a:spAutoFit/>
          </a:bodyPr>
          <a:lstStyle/>
          <a:p>
            <a:pPr algn="ctr">
              <a:spcAft>
                <a:spcPts val="300"/>
              </a:spcAft>
            </a:pPr>
            <a:r>
              <a:rPr sz="1400" b="1">
                <a:solidFill>
                  <a:srgbClr val="355CBC"/>
                </a:solidFill>
                <a:latin typeface="Times New Roman"/>
              </a:rPr>
              <a:t>LEFT</a:t>
            </a:r>
          </a:p>
        </p:txBody>
      </p:sp>
      <p:sp>
        <p:nvSpPr>
          <p:cNvPr id="18" name="TextBox 17"/>
          <p:cNvSpPr txBox="1"/>
          <p:nvPr/>
        </p:nvSpPr>
        <p:spPr>
          <a:xfrm>
            <a:off x="4709160" y="2706624"/>
            <a:ext cx="1792224" cy="228600"/>
          </a:xfrm>
          <a:prstGeom prst="rect">
            <a:avLst/>
          </a:prstGeom>
          <a:noFill/>
        </p:spPr>
        <p:txBody>
          <a:bodyPr wrap="square" lIns="22860" rIns="22860" tIns="13716" bIns="0">
            <a:spAutoFit/>
          </a:bodyPr>
          <a:lstStyle/>
          <a:p>
            <a:pPr algn="ctr">
              <a:spcAft>
                <a:spcPts val="300"/>
              </a:spcAft>
            </a:pPr>
            <a:r>
              <a:rPr sz="1250" b="0">
                <a:solidFill>
                  <a:srgbClr val="172D3C"/>
                </a:solidFill>
                <a:latin typeface="Times New Roman"/>
              </a:rPr>
              <a:t>Bounded left turn</a:t>
            </a:r>
          </a:p>
        </p:txBody>
      </p:sp>
      <p:sp>
        <p:nvSpPr>
          <p:cNvPr id="19" name="Rounded Rectangle 18"/>
          <p:cNvSpPr/>
          <p:nvPr/>
        </p:nvSpPr>
        <p:spPr>
          <a:xfrm>
            <a:off x="6702552" y="1353312"/>
            <a:ext cx="1865376" cy="16093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urn_right.png"/>
          <p:cNvPicPr>
            <a:picLocks noChangeAspect="1"/>
          </p:cNvPicPr>
          <p:nvPr/>
        </p:nvPicPr>
        <p:blipFill>
          <a:blip r:embed="rId5"/>
          <a:stretch>
            <a:fillRect/>
          </a:stretch>
        </p:blipFill>
        <p:spPr>
          <a:xfrm>
            <a:off x="7159752" y="1435608"/>
            <a:ext cx="950976" cy="950976"/>
          </a:xfrm>
          <a:prstGeom prst="rect">
            <a:avLst/>
          </a:prstGeom>
        </p:spPr>
      </p:pic>
      <p:sp>
        <p:nvSpPr>
          <p:cNvPr id="21" name="TextBox 20"/>
          <p:cNvSpPr txBox="1"/>
          <p:nvPr/>
        </p:nvSpPr>
        <p:spPr>
          <a:xfrm>
            <a:off x="6757416" y="2414016"/>
            <a:ext cx="1755648" cy="228600"/>
          </a:xfrm>
          <a:prstGeom prst="rect">
            <a:avLst/>
          </a:prstGeom>
          <a:noFill/>
        </p:spPr>
        <p:txBody>
          <a:bodyPr wrap="square" lIns="22860" rIns="22860" tIns="13716" bIns="0">
            <a:spAutoFit/>
          </a:bodyPr>
          <a:lstStyle/>
          <a:p>
            <a:pPr algn="ctr">
              <a:spcAft>
                <a:spcPts val="300"/>
              </a:spcAft>
            </a:pPr>
            <a:r>
              <a:rPr sz="1400" b="1">
                <a:solidFill>
                  <a:srgbClr val="087F8C"/>
                </a:solidFill>
                <a:latin typeface="Times New Roman"/>
              </a:rPr>
              <a:t>RIGHT</a:t>
            </a:r>
          </a:p>
        </p:txBody>
      </p:sp>
      <p:sp>
        <p:nvSpPr>
          <p:cNvPr id="22" name="TextBox 21"/>
          <p:cNvSpPr txBox="1"/>
          <p:nvPr/>
        </p:nvSpPr>
        <p:spPr>
          <a:xfrm>
            <a:off x="6739128" y="2706624"/>
            <a:ext cx="1792224" cy="228600"/>
          </a:xfrm>
          <a:prstGeom prst="rect">
            <a:avLst/>
          </a:prstGeom>
          <a:noFill/>
        </p:spPr>
        <p:txBody>
          <a:bodyPr wrap="square" lIns="22860" rIns="22860" tIns="13716" bIns="0">
            <a:spAutoFit/>
          </a:bodyPr>
          <a:lstStyle/>
          <a:p>
            <a:pPr algn="ctr">
              <a:spcAft>
                <a:spcPts val="300"/>
              </a:spcAft>
            </a:pPr>
            <a:r>
              <a:rPr sz="1250" b="0">
                <a:solidFill>
                  <a:srgbClr val="172D3C"/>
                </a:solidFill>
                <a:latin typeface="Times New Roman"/>
              </a:rPr>
              <a:t>Bounded right turn</a:t>
            </a:r>
          </a:p>
        </p:txBody>
      </p:sp>
      <p:sp>
        <p:nvSpPr>
          <p:cNvPr id="23" name="Rounded Rectangle 22"/>
          <p:cNvSpPr/>
          <p:nvPr/>
        </p:nvSpPr>
        <p:spPr>
          <a:xfrm>
            <a:off x="612648" y="3154680"/>
            <a:ext cx="2907792" cy="2121408"/>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291840"/>
            <a:ext cx="2651760" cy="219456"/>
          </a:xfrm>
          <a:prstGeom prst="rect">
            <a:avLst/>
          </a:prstGeom>
          <a:noFill/>
        </p:spPr>
        <p:txBody>
          <a:bodyPr wrap="square" lIns="22860" rIns="22860" tIns="13716" bIns="0">
            <a:spAutoFit/>
          </a:bodyPr>
          <a:lstStyle/>
          <a:p>
            <a:pPr algn="l">
              <a:spcAft>
                <a:spcPts val="300"/>
              </a:spcAft>
            </a:pPr>
            <a:r>
              <a:rPr sz="1100" b="1">
                <a:solidFill>
                  <a:srgbClr val="FFFFFF"/>
                </a:solidFill>
                <a:latin typeface="Times New Roman"/>
              </a:rPr>
              <a:t>TRAINING / ACTUAL ARTIFACTS</a:t>
            </a:r>
          </a:p>
        </p:txBody>
      </p:sp>
      <p:sp>
        <p:nvSpPr>
          <p:cNvPr id="26" name="Oval 25"/>
          <p:cNvSpPr/>
          <p:nvPr/>
        </p:nvSpPr>
        <p:spPr>
          <a:xfrm>
            <a:off x="3749039" y="3163824"/>
            <a:ext cx="310896" cy="310896"/>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200" b="1">
                <a:solidFill>
                  <a:srgbClr val="FFFFFF"/>
                </a:solidFill>
                <a:latin typeface="Times New Roman"/>
              </a:rPr>
              <a:t>1</a:t>
            </a:r>
          </a:p>
        </p:txBody>
      </p:sp>
      <p:sp>
        <p:nvSpPr>
          <p:cNvPr id="29" name="Oval 28"/>
          <p:cNvSpPr/>
          <p:nvPr/>
        </p:nvSpPr>
        <p:spPr>
          <a:xfrm>
            <a:off x="3749039" y="3877056"/>
            <a:ext cx="310896" cy="310896"/>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200" b="1">
                <a:solidFill>
                  <a:srgbClr val="FFFFFF"/>
                </a:solidFill>
                <a:latin typeface="Times New Roman"/>
              </a:rPr>
              <a:t>2</a:t>
            </a:r>
          </a:p>
        </p:txBody>
      </p:sp>
      <p:sp>
        <p:nvSpPr>
          <p:cNvPr id="32" name="Oval 31"/>
          <p:cNvSpPr/>
          <p:nvPr/>
        </p:nvSpPr>
        <p:spPr>
          <a:xfrm>
            <a:off x="3749039" y="4590288"/>
            <a:ext cx="310896" cy="310896"/>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200" b="1">
                <a:solidFill>
                  <a:srgbClr val="FFFFFF"/>
                </a:solidFill>
                <a:latin typeface="Times New Roman"/>
              </a:rPr>
              <a:t>3</a:t>
            </a:r>
          </a:p>
        </p:txBody>
      </p:sp>
      <p:sp>
        <p:nvSpPr>
          <p:cNvPr id="34" name="TextBox 33"/>
          <p:cNvSpPr txBox="1"/>
          <p:nvPr/>
        </p:nvSpPr>
        <p:spPr>
          <a:xfrm>
            <a:off x="4206240" y="4864607"/>
            <a:ext cx="4206240" cy="338328"/>
          </a:xfrm>
          <a:prstGeom prst="rect">
            <a:avLst/>
          </a:prstGeom>
          <a:noFill/>
        </p:spPr>
        <p:txBody>
          <a:bodyPr wrap="square" lIns="22860" rIns="22860" tIns="13716" bIns="0">
            <a:spAutoFit/>
          </a:bodyPr>
          <a:lstStyle/>
          <a:p>
            <a:pPr algn="l">
              <a:spcAft>
                <a:spcPts val="300"/>
              </a:spcAft>
            </a:pPr>
            <a:r>
              <a:rPr sz="1330" b="0">
                <a:solidFill>
                  <a:srgbClr val="172D3C"/>
                </a:solidFill>
                <a:latin typeface="Times New Roman"/>
              </a:rPr>
              <a:t>Lane mode: bounded pulses + reacquisition</a:t>
            </a:r>
          </a:p>
        </p:txBody>
      </p:sp>
      <p:sp>
        <p:nvSpPr>
          <p:cNvPr id="37" name="TextBox 36"/>
          <p:cNvSpPr txBox="1"/>
          <p:nvPr/>
        </p:nvSpPr>
        <p:spPr>
          <a:xfrm>
            <a:off x="777240" y="3639312"/>
            <a:ext cx="2578608" cy="1417320"/>
          </a:xfrm>
          <a:prstGeom prst="rect">
            <a:avLst/>
          </a:prstGeom>
          <a:noFill/>
        </p:spPr>
        <p:txBody>
          <a:bodyPr wrap="square" lIns="22860" rIns="22860" tIns="13716" bIns="0">
            <a:spAutoFit/>
          </a:bodyPr>
          <a:lstStyle/>
          <a:p>
            <a:pPr algn="l">
              <a:spcAft>
                <a:spcPts val="300"/>
              </a:spcAft>
            </a:pPr>
            <a:r>
              <a:rPr sz="1600" b="0">
                <a:solidFill>
                  <a:srgbClr val="FFFFFF"/>
                </a:solidFill>
                <a:latin typeface="Times New Roman"/>
              </a:rPr>
              <a:t>Four road-sign classes</a:t>
            </a:r>
          </a:p>
          <a:p>
            <a:pPr algn="l">
              <a:spcAft>
                <a:spcPts val="300"/>
              </a:spcAft>
            </a:pPr>
            <a:r>
              <a:rPr sz="1600" b="0">
                <a:solidFill>
                  <a:srgbClr val="FFFFFF"/>
                </a:solidFill>
                <a:latin typeface="Times New Roman"/>
              </a:rPr>
              <a:t>Varied synthetic scenes</a:t>
            </a:r>
          </a:p>
          <a:p>
            <a:pPr algn="l">
              <a:spcAft>
                <a:spcPts val="300"/>
              </a:spcAft>
            </a:pPr>
            <a:r>
              <a:rPr sz="1600" b="0">
                <a:solidFill>
                  <a:srgbClr val="FFFFFF"/>
                </a:solidFill>
                <a:latin typeface="Times New Roman"/>
              </a:rPr>
              <a:t>Fine-tuned YOLOv10n</a:t>
            </a:r>
          </a:p>
          <a:p>
            <a:pPr algn="l">
              <a:spcAft>
                <a:spcPts val="300"/>
              </a:spcAft>
            </a:pPr>
            <a:r>
              <a:rPr sz="1600" b="0">
                <a:solidFill>
                  <a:srgbClr val="FFFFFF"/>
                </a:solidFill>
                <a:latin typeface="Times New Roman"/>
              </a:rPr>
              <a:t>Lightweight NCNN deployment</a:t>
            </a:r>
          </a:p>
        </p:txBody>
      </p:sp>
      <p:sp>
        <p:nvSpPr>
          <p:cNvPr id="38" name="TextBox 37"/>
          <p:cNvSpPr txBox="1"/>
          <p:nvPr/>
        </p:nvSpPr>
        <p:spPr>
          <a:xfrm>
            <a:off x="4206240" y="3145536"/>
            <a:ext cx="4206240" cy="274320"/>
          </a:xfrm>
          <a:prstGeom prst="rect">
            <a:avLst/>
          </a:prstGeom>
          <a:noFill/>
        </p:spPr>
        <p:txBody>
          <a:bodyPr wrap="square" lIns="22860" rIns="22860" tIns="13716" bIns="0">
            <a:spAutoFit/>
          </a:bodyPr>
          <a:lstStyle/>
          <a:p>
            <a:pPr algn="l">
              <a:spcAft>
                <a:spcPts val="300"/>
              </a:spcAft>
            </a:pPr>
            <a:r>
              <a:rPr sz="1600" b="1">
                <a:solidFill>
                  <a:srgbClr val="087F8C"/>
                </a:solidFill>
                <a:latin typeface="Times New Roman"/>
              </a:rPr>
              <a:t>Confirm across fresh frames</a:t>
            </a:r>
          </a:p>
        </p:txBody>
      </p:sp>
      <p:sp>
        <p:nvSpPr>
          <p:cNvPr id="39" name="TextBox 38"/>
          <p:cNvSpPr txBox="1"/>
          <p:nvPr/>
        </p:nvSpPr>
        <p:spPr>
          <a:xfrm>
            <a:off x="4206240" y="3438144"/>
            <a:ext cx="4206240" cy="338328"/>
          </a:xfrm>
          <a:prstGeom prst="rect">
            <a:avLst/>
          </a:prstGeom>
          <a:noFill/>
        </p:spPr>
        <p:txBody>
          <a:bodyPr wrap="square" lIns="22860" rIns="22860" tIns="13716" bIns="0">
            <a:spAutoFit/>
          </a:bodyPr>
          <a:lstStyle/>
          <a:p>
            <a:pPr algn="l">
              <a:spcAft>
                <a:spcPts val="300"/>
              </a:spcAft>
            </a:pPr>
            <a:r>
              <a:rPr sz="1330" b="0">
                <a:solidFill>
                  <a:srgbClr val="172D3C"/>
                </a:solidFill>
                <a:latin typeface="Times New Roman"/>
              </a:rPr>
              <a:t>Reject stale or weak predictions</a:t>
            </a:r>
          </a:p>
        </p:txBody>
      </p:sp>
      <p:sp>
        <p:nvSpPr>
          <p:cNvPr id="40" name="TextBox 39"/>
          <p:cNvSpPr txBox="1"/>
          <p:nvPr/>
        </p:nvSpPr>
        <p:spPr>
          <a:xfrm>
            <a:off x="4206240" y="3858768"/>
            <a:ext cx="4206240" cy="274320"/>
          </a:xfrm>
          <a:prstGeom prst="rect">
            <a:avLst/>
          </a:prstGeom>
          <a:noFill/>
        </p:spPr>
        <p:txBody>
          <a:bodyPr wrap="square" lIns="22860" rIns="22860" tIns="13716" bIns="0">
            <a:spAutoFit/>
          </a:bodyPr>
          <a:lstStyle/>
          <a:p>
            <a:pPr algn="l">
              <a:spcAft>
                <a:spcPts val="300"/>
              </a:spcAft>
            </a:pPr>
            <a:r>
              <a:rPr sz="1600" b="1">
                <a:solidFill>
                  <a:srgbClr val="355CBC"/>
                </a:solidFill>
                <a:latin typeface="Times New Roman"/>
              </a:rPr>
              <a:t>Check size and image position</a:t>
            </a:r>
          </a:p>
        </p:txBody>
      </p:sp>
      <p:sp>
        <p:nvSpPr>
          <p:cNvPr id="41" name="TextBox 40"/>
          <p:cNvSpPr txBox="1"/>
          <p:nvPr/>
        </p:nvSpPr>
        <p:spPr>
          <a:xfrm>
            <a:off x="4206240" y="4151376"/>
            <a:ext cx="4206240" cy="338328"/>
          </a:xfrm>
          <a:prstGeom prst="rect">
            <a:avLst/>
          </a:prstGeom>
          <a:noFill/>
        </p:spPr>
        <p:txBody>
          <a:bodyPr wrap="square" lIns="22860" rIns="22860" tIns="13716" bIns="0">
            <a:spAutoFit/>
          </a:bodyPr>
          <a:lstStyle/>
          <a:p>
            <a:pPr algn="l">
              <a:spcAft>
                <a:spcPts val="300"/>
              </a:spcAft>
            </a:pPr>
            <a:r>
              <a:rPr sz="1330" b="0">
                <a:solidFill>
                  <a:srgbClr val="172D3C"/>
                </a:solidFill>
                <a:latin typeface="Times New Roman"/>
              </a:rPr>
              <a:t>Act only when the sign is suitably visible</a:t>
            </a:r>
          </a:p>
        </p:txBody>
      </p:sp>
      <p:sp>
        <p:nvSpPr>
          <p:cNvPr id="42" name="TextBox 41"/>
          <p:cNvSpPr txBox="1"/>
          <p:nvPr/>
        </p:nvSpPr>
        <p:spPr>
          <a:xfrm>
            <a:off x="4206240" y="4572000"/>
            <a:ext cx="4206240" cy="274320"/>
          </a:xfrm>
          <a:prstGeom prst="rect">
            <a:avLst/>
          </a:prstGeom>
          <a:noFill/>
        </p:spPr>
        <p:txBody>
          <a:bodyPr wrap="square" lIns="22860" rIns="22860" tIns="13716" bIns="0">
            <a:spAutoFit/>
          </a:bodyPr>
          <a:lstStyle/>
          <a:p>
            <a:pPr algn="l">
              <a:spcAft>
                <a:spcPts val="300"/>
              </a:spcAft>
            </a:pPr>
            <a:r>
              <a:rPr sz="1600" b="1">
                <a:solidFill>
                  <a:srgbClr val="622423"/>
                </a:solidFill>
                <a:latin typeface="Times New Roman"/>
              </a:rPr>
              <a:t>Clearance → bounded action</a:t>
            </a:r>
          </a:p>
        </p:txBody>
      </p:sp>
      <p:sp>
        <p:nvSpPr>
          <p:cNvPr id="43" name="Rounded Rectangle 42"/>
          <p:cNvSpPr/>
          <p:nvPr/>
        </p:nvSpPr>
        <p:spPr>
          <a:xfrm>
            <a:off x="548640" y="5513832"/>
            <a:ext cx="8046720" cy="347472"/>
          </a:xfrm>
          <a:prstGeom prst="roundRect">
            <a:avLst>
              <a:gd name="adj" fmla="val 10000"/>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Camera frame → sign recognition → safety checks → action and dashboard feedback.</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Result Analysis / Scores and Verification</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MODEL METRICS  /  MEASUREMENTS AND VALIDATION SCOPE</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GitHub CSVs at 9aeb238; separate sign extension validation JSON; no dated physical Pi performance log supplied.</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12</a:t>
            </a:r>
          </a:p>
        </p:txBody>
      </p:sp>
      <p:graphicFrame>
        <p:nvGraphicFramePr>
          <p:cNvPr id="7" name="Table 6"/>
          <p:cNvGraphicFramePr>
            <a:graphicFrameLocks noGrp="1"/>
          </p:cNvGraphicFramePr>
          <p:nvPr/>
        </p:nvGraphicFramePr>
        <p:xfrm>
          <a:off x="576072" y="1362456"/>
          <a:ext cx="7991856" cy="2121408"/>
        </p:xfrm>
        <a:graphic>
          <a:graphicData uri="http://schemas.openxmlformats.org/drawingml/2006/table">
            <a:tbl>
              <a:tblPr firstRow="1" bandRow="1">
                <a:tableStyleId>{5C22544A-7EE6-4342-B048-85BDC9FD1C3A}</a:tableStyleId>
              </a:tblPr>
              <a:tblGrid>
                <a:gridCol w="2615184"/>
                <a:gridCol w="1252728"/>
                <a:gridCol w="1252728"/>
                <a:gridCol w="1435608"/>
                <a:gridCol w="1435608"/>
              </a:tblGrid>
              <a:tr h="530352">
                <a:tc>
                  <a:txBody>
                    <a:bodyPr/>
                    <a:lstStyle/>
                    <a:p>
                      <a:pPr>
                        <a:spcAft>
                          <a:spcPts val="100"/>
                        </a:spcAft>
                      </a:pPr>
                      <a:r>
                        <a:rPr sz="1500" b="1">
                          <a:solidFill>
                            <a:srgbClr val="FFFFFF"/>
                          </a:solidFill>
                          <a:latin typeface="Times New Roman"/>
                        </a:rPr>
                        <a:t>Evaluation domain</a:t>
                      </a:r>
                    </a:p>
                  </a:txBody>
                  <a:tcPr marL="77724" marR="50292" marT="50292" marB="32004">
                    <a:solidFill>
                      <a:srgbClr val="16354B"/>
                    </a:solidFill>
                  </a:tcPr>
                </a:tc>
                <a:tc>
                  <a:txBody>
                    <a:bodyPr/>
                    <a:lstStyle/>
                    <a:p>
                      <a:pPr>
                        <a:spcAft>
                          <a:spcPts val="100"/>
                        </a:spcAft>
                      </a:pPr>
                      <a:r>
                        <a:rPr sz="1500" b="1">
                          <a:solidFill>
                            <a:srgbClr val="FFFFFF"/>
                          </a:solidFill>
                          <a:latin typeface="Times New Roman"/>
                        </a:rPr>
                        <a:t>Precision</a:t>
                      </a:r>
                    </a:p>
                  </a:txBody>
                  <a:tcPr marL="77724" marR="50292" marT="50292" marB="32004">
                    <a:solidFill>
                      <a:srgbClr val="16354B"/>
                    </a:solidFill>
                  </a:tcPr>
                </a:tc>
                <a:tc>
                  <a:txBody>
                    <a:bodyPr/>
                    <a:lstStyle/>
                    <a:p>
                      <a:pPr>
                        <a:spcAft>
                          <a:spcPts val="100"/>
                        </a:spcAft>
                      </a:pPr>
                      <a:r>
                        <a:rPr sz="1500" b="1">
                          <a:solidFill>
                            <a:srgbClr val="FFFFFF"/>
                          </a:solidFill>
                          <a:latin typeface="Times New Roman"/>
                        </a:rPr>
                        <a:t>Recall</a:t>
                      </a:r>
                    </a:p>
                  </a:txBody>
                  <a:tcPr marL="77724" marR="50292" marT="50292" marB="32004">
                    <a:solidFill>
                      <a:srgbClr val="16354B"/>
                    </a:solidFill>
                  </a:tcPr>
                </a:tc>
                <a:tc>
                  <a:txBody>
                    <a:bodyPr/>
                    <a:lstStyle/>
                    <a:p>
                      <a:pPr>
                        <a:spcAft>
                          <a:spcPts val="100"/>
                        </a:spcAft>
                      </a:pPr>
                      <a:r>
                        <a:rPr sz="1500" b="1">
                          <a:solidFill>
                            <a:srgbClr val="FFFFFF"/>
                          </a:solidFill>
                          <a:latin typeface="Times New Roman"/>
                        </a:rPr>
                        <a:t>mAP50</a:t>
                      </a:r>
                    </a:p>
                  </a:txBody>
                  <a:tcPr marL="77724" marR="50292" marT="50292" marB="32004">
                    <a:solidFill>
                      <a:srgbClr val="16354B"/>
                    </a:solidFill>
                  </a:tcPr>
                </a:tc>
                <a:tc>
                  <a:txBody>
                    <a:bodyPr/>
                    <a:lstStyle/>
                    <a:p>
                      <a:pPr>
                        <a:spcAft>
                          <a:spcPts val="100"/>
                        </a:spcAft>
                      </a:pPr>
                      <a:r>
                        <a:rPr sz="1500" b="1">
                          <a:solidFill>
                            <a:srgbClr val="FFFFFF"/>
                          </a:solidFill>
                          <a:latin typeface="Times New Roman"/>
                        </a:rPr>
                        <a:t>mAP50–95</a:t>
                      </a:r>
                    </a:p>
                  </a:txBody>
                  <a:tcPr marL="77724" marR="50292" marT="50292" marB="32004">
                    <a:solidFill>
                      <a:srgbClr val="16354B"/>
                    </a:solidFill>
                  </a:tcPr>
                </a:tc>
              </a:tr>
              <a:tr h="530352">
                <a:tc>
                  <a:txBody>
                    <a:bodyPr/>
                    <a:lstStyle/>
                    <a:p>
                      <a:pPr>
                        <a:spcAft>
                          <a:spcPts val="100"/>
                        </a:spcAft>
                      </a:pPr>
                      <a:r>
                        <a:rPr sz="1500" b="1">
                          <a:solidFill>
                            <a:srgbClr val="087F8C"/>
                          </a:solidFill>
                          <a:latin typeface="Times New Roman"/>
                          <a:hlinkClick r:id="rId2"/>
                        </a:rPr>
                        <a:t>RDD2022 road damage</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0.53992</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0.27092</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0.25226</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0.11421</a:t>
                      </a:r>
                    </a:p>
                  </a:txBody>
                  <a:tcPr marL="77724" marR="50292" marT="50292" marB="32004">
                    <a:solidFill>
                      <a:srgbClr val="EDF4F4"/>
                    </a:solidFill>
                  </a:tcPr>
                </a:tc>
              </a:tr>
              <a:tr h="530352">
                <a:tc>
                  <a:txBody>
                    <a:bodyPr/>
                    <a:lstStyle/>
                    <a:p>
                      <a:pPr>
                        <a:spcAft>
                          <a:spcPts val="100"/>
                        </a:spcAft>
                      </a:pPr>
                      <a:r>
                        <a:rPr sz="1500" b="1">
                          <a:solidFill>
                            <a:srgbClr val="622423"/>
                          </a:solidFill>
                          <a:latin typeface="Times New Roman"/>
                          <a:hlinkClick r:id="rId3"/>
                        </a:rPr>
                        <a:t>Pothole printout run</a:t>
                      </a:r>
                    </a:p>
                  </a:txBody>
                  <a:tcPr marL="77724" marR="50292" marT="50292" marB="32004">
                    <a:solidFill>
                      <a:srgbClr val="F5F0E8"/>
                    </a:solidFill>
                  </a:tcPr>
                </a:tc>
                <a:tc>
                  <a:txBody>
                    <a:bodyPr/>
                    <a:lstStyle/>
                    <a:p>
                      <a:pPr>
                        <a:spcAft>
                          <a:spcPts val="100"/>
                        </a:spcAft>
                      </a:pPr>
                      <a:r>
                        <a:rPr sz="1500" b="0">
                          <a:solidFill>
                            <a:srgbClr val="172D3C"/>
                          </a:solidFill>
                          <a:latin typeface="Times New Roman"/>
                        </a:rPr>
                        <a:t>0.99902</a:t>
                      </a:r>
                    </a:p>
                  </a:txBody>
                  <a:tcPr marL="77724" marR="50292" marT="50292" marB="32004">
                    <a:solidFill>
                      <a:srgbClr val="F5F0E8"/>
                    </a:solidFill>
                  </a:tcPr>
                </a:tc>
                <a:tc>
                  <a:txBody>
                    <a:bodyPr/>
                    <a:lstStyle/>
                    <a:p>
                      <a:pPr>
                        <a:spcAft>
                          <a:spcPts val="100"/>
                        </a:spcAft>
                      </a:pPr>
                      <a:r>
                        <a:rPr sz="1500" b="0">
                          <a:solidFill>
                            <a:srgbClr val="172D3C"/>
                          </a:solidFill>
                          <a:latin typeface="Times New Roman"/>
                        </a:rPr>
                        <a:t>0.95506</a:t>
                      </a:r>
                    </a:p>
                  </a:txBody>
                  <a:tcPr marL="77724" marR="50292" marT="50292" marB="32004">
                    <a:solidFill>
                      <a:srgbClr val="F5F0E8"/>
                    </a:solidFill>
                  </a:tcPr>
                </a:tc>
                <a:tc>
                  <a:txBody>
                    <a:bodyPr/>
                    <a:lstStyle/>
                    <a:p>
                      <a:pPr>
                        <a:spcAft>
                          <a:spcPts val="100"/>
                        </a:spcAft>
                      </a:pPr>
                      <a:r>
                        <a:rPr sz="1500" b="0">
                          <a:solidFill>
                            <a:srgbClr val="172D3C"/>
                          </a:solidFill>
                          <a:latin typeface="Times New Roman"/>
                        </a:rPr>
                        <a:t>0.97333</a:t>
                      </a:r>
                    </a:p>
                  </a:txBody>
                  <a:tcPr marL="77724" marR="50292" marT="50292" marB="32004">
                    <a:solidFill>
                      <a:srgbClr val="F5F0E8"/>
                    </a:solidFill>
                  </a:tcPr>
                </a:tc>
                <a:tc>
                  <a:txBody>
                    <a:bodyPr/>
                    <a:lstStyle/>
                    <a:p>
                      <a:pPr>
                        <a:spcAft>
                          <a:spcPts val="100"/>
                        </a:spcAft>
                      </a:pPr>
                      <a:r>
                        <a:rPr sz="1500" b="0">
                          <a:solidFill>
                            <a:srgbClr val="172D3C"/>
                          </a:solidFill>
                          <a:latin typeface="Times New Roman"/>
                        </a:rPr>
                        <a:t>0.70171</a:t>
                      </a:r>
                    </a:p>
                  </a:txBody>
                  <a:tcPr marL="77724" marR="50292" marT="50292" marB="32004">
                    <a:solidFill>
                      <a:srgbClr val="F5F0E8"/>
                    </a:solidFill>
                  </a:tcPr>
                </a:tc>
              </a:tr>
              <a:tr h="530352">
                <a:tc>
                  <a:txBody>
                    <a:bodyPr/>
                    <a:lstStyle/>
                    <a:p>
                      <a:pPr>
                        <a:spcAft>
                          <a:spcPts val="100"/>
                        </a:spcAft>
                      </a:pPr>
                      <a:r>
                        <a:rPr sz="1500" b="1">
                          <a:solidFill>
                            <a:srgbClr val="355CBC"/>
                          </a:solidFill>
                          <a:latin typeface="Times New Roman"/>
                          <a:hlinkClick r:id="rId4"/>
                        </a:rPr>
                        <a:t>Traffic signs: synthetic</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0.98462</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0.99896</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0.99486</a:t>
                      </a:r>
                    </a:p>
                  </a:txBody>
                  <a:tcPr marL="77724" marR="50292" marT="50292" marB="32004">
                    <a:solidFill>
                      <a:srgbClr val="EDF4F4"/>
                    </a:solidFill>
                  </a:tcPr>
                </a:tc>
                <a:tc>
                  <a:txBody>
                    <a:bodyPr/>
                    <a:lstStyle/>
                    <a:p>
                      <a:pPr>
                        <a:spcAft>
                          <a:spcPts val="100"/>
                        </a:spcAft>
                      </a:pPr>
                      <a:r>
                        <a:rPr sz="1500" b="0">
                          <a:solidFill>
                            <a:srgbClr val="172D3C"/>
                          </a:solidFill>
                          <a:latin typeface="Times New Roman"/>
                        </a:rPr>
                        <a:t>0.97783</a:t>
                      </a:r>
                    </a:p>
                  </a:txBody>
                  <a:tcPr marL="77724" marR="50292" marT="50292" marB="32004">
                    <a:solidFill>
                      <a:srgbClr val="EDF4F4"/>
                    </a:solidFill>
                  </a:tcPr>
                </a:tc>
              </a:tr>
            </a:tbl>
          </a:graphicData>
        </a:graphic>
      </p:graphicFrame>
      <p:sp>
        <p:nvSpPr>
          <p:cNvPr id="8" name="TextBox 7"/>
          <p:cNvSpPr txBox="1"/>
          <p:nvPr/>
        </p:nvSpPr>
        <p:spPr>
          <a:xfrm>
            <a:off x="694944" y="3703320"/>
            <a:ext cx="3749039"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WHAT IS VERIFIED</a:t>
            </a:r>
          </a:p>
        </p:txBody>
      </p:sp>
      <p:sp>
        <p:nvSpPr>
          <p:cNvPr id="9" name="TextBox 8"/>
          <p:cNvSpPr txBox="1"/>
          <p:nvPr/>
        </p:nvSpPr>
        <p:spPr>
          <a:xfrm>
            <a:off x="4663440" y="3703320"/>
            <a:ext cx="3840480" cy="219456"/>
          </a:xfrm>
          <a:prstGeom prst="rect">
            <a:avLst/>
          </a:prstGeom>
          <a:noFill/>
        </p:spPr>
        <p:txBody>
          <a:bodyPr wrap="square" lIns="22860" rIns="22860" tIns="13716" bIns="0">
            <a:spAutoFit/>
          </a:bodyPr>
          <a:lstStyle/>
          <a:p>
            <a:pPr algn="l">
              <a:spcAft>
                <a:spcPts val="300"/>
              </a:spcAft>
            </a:pPr>
            <a:r>
              <a:rPr sz="1100" b="1">
                <a:solidFill>
                  <a:srgbClr val="622423"/>
                </a:solidFill>
                <a:latin typeface="Times New Roman"/>
              </a:rPr>
              <a:t>WHAT NEEDS TRACK MEASUREMENT</a:t>
            </a:r>
          </a:p>
        </p:txBody>
      </p:sp>
      <p:sp>
        <p:nvSpPr>
          <p:cNvPr id="10" name="TextBox 9"/>
          <p:cNvSpPr txBox="1"/>
          <p:nvPr/>
        </p:nvSpPr>
        <p:spPr>
          <a:xfrm>
            <a:off x="694944" y="4059936"/>
            <a:ext cx="3675887" cy="1106424"/>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 Logged validation scores and training curves</a:t>
            </a:r>
          </a:p>
          <a:p>
            <a:pPr algn="l">
              <a:spcAft>
                <a:spcPts val="300"/>
              </a:spcAft>
            </a:pPr>
            <a:r>
              <a:rPr sz="1550" b="0">
                <a:solidFill>
                  <a:srgbClr val="172D3C"/>
                </a:solidFill>
                <a:latin typeface="Times New Roman"/>
              </a:rPr>
              <a:t>• Four sign image-to-command outcomes</a:t>
            </a:r>
          </a:p>
          <a:p>
            <a:pPr algn="l">
              <a:spcAft>
                <a:spcPts val="300"/>
              </a:spcAft>
            </a:pPr>
            <a:r>
              <a:rPr sz="1550" b="0">
                <a:solidFill>
                  <a:srgbClr val="172D3C"/>
                </a:solidFill>
                <a:latin typeface="Times New Roman"/>
              </a:rPr>
              <a:t>• Lane algorithm and software thresholds</a:t>
            </a:r>
          </a:p>
        </p:txBody>
      </p:sp>
      <p:sp>
        <p:nvSpPr>
          <p:cNvPr id="11" name="TextBox 10"/>
          <p:cNvSpPr txBox="1"/>
          <p:nvPr/>
        </p:nvSpPr>
        <p:spPr>
          <a:xfrm>
            <a:off x="4663440" y="4059936"/>
            <a:ext cx="3712463" cy="1106424"/>
          </a:xfrm>
          <a:prstGeom prst="rect">
            <a:avLst/>
          </a:prstGeom>
          <a:noFill/>
        </p:spPr>
        <p:txBody>
          <a:bodyPr wrap="square" lIns="22860" rIns="22860" tIns="13716" bIns="0">
            <a:spAutoFit/>
          </a:bodyPr>
          <a:lstStyle/>
          <a:p>
            <a:pPr algn="l">
              <a:spcAft>
                <a:spcPts val="300"/>
              </a:spcAft>
            </a:pPr>
            <a:r>
              <a:rPr sz="1550" b="0">
                <a:solidFill>
                  <a:srgbClr val="172D3C"/>
                </a:solidFill>
                <a:latin typeface="Times New Roman"/>
              </a:rPr>
              <a:t>• Lane error / route completion rate</a:t>
            </a:r>
          </a:p>
          <a:p>
            <a:pPr algn="l">
              <a:spcAft>
                <a:spcPts val="300"/>
              </a:spcAft>
            </a:pPr>
            <a:r>
              <a:rPr sz="1550" b="0">
                <a:solidFill>
                  <a:srgbClr val="172D3C"/>
                </a:solidFill>
                <a:latin typeface="Times New Roman"/>
              </a:rPr>
              <a:t>• Camera-to-motion delay and braking distance</a:t>
            </a:r>
          </a:p>
          <a:p>
            <a:pPr algn="l">
              <a:spcAft>
                <a:spcPts val="300"/>
              </a:spcAft>
            </a:pPr>
            <a:r>
              <a:rPr sz="1550" b="0">
                <a:solidFill>
                  <a:srgbClr val="172D3C"/>
                </a:solidFill>
                <a:latin typeface="Times New Roman"/>
              </a:rPr>
              <a:t>• Sustained fresh-inference FPS on Pi</a:t>
            </a:r>
          </a:p>
        </p:txBody>
      </p:sp>
      <p:sp>
        <p:nvSpPr>
          <p:cNvPr id="12" name="Rounded Rectangle 11"/>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Loop FPS ≠ fresh detection FPS. General neural detection runs every third loop iteration.</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Conclusion and Future Scope</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DELIVERED CAPABILITY  /  A CLEAR PATH TO STRONGER PHYSICAL EVIDENCE</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final report conclusion and limitations; current source code; trained sign extension reports.</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13</a:t>
            </a:r>
          </a:p>
        </p:txBody>
      </p:sp>
      <p:sp>
        <p:nvSpPr>
          <p:cNvPr id="7" name="Oval 6"/>
          <p:cNvSpPr/>
          <p:nvPr/>
        </p:nvSpPr>
        <p:spPr>
          <a:xfrm>
            <a:off x="630936" y="1399032"/>
            <a:ext cx="493776" cy="493776"/>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600" b="1">
                <a:solidFill>
                  <a:srgbClr val="FFFFFF"/>
                </a:solidFill>
                <a:latin typeface="Times New Roman"/>
              </a:rPr>
              <a:t>Pi</a:t>
            </a:r>
          </a:p>
        </p:txBody>
      </p:sp>
      <p:sp>
        <p:nvSpPr>
          <p:cNvPr id="8" name="TextBox 7"/>
          <p:cNvSpPr txBox="1"/>
          <p:nvPr/>
        </p:nvSpPr>
        <p:spPr>
          <a:xfrm>
            <a:off x="630936" y="2029968"/>
            <a:ext cx="2468880" cy="539496"/>
          </a:xfrm>
          <a:prstGeom prst="rect">
            <a:avLst/>
          </a:prstGeom>
          <a:noFill/>
        </p:spPr>
        <p:txBody>
          <a:bodyPr wrap="square" lIns="22860" rIns="22860" tIns="13716" bIns="0">
            <a:spAutoFit/>
          </a:bodyPr>
          <a:lstStyle/>
          <a:p>
            <a:pPr algn="l">
              <a:spcAft>
                <a:spcPts val="300"/>
              </a:spcAft>
            </a:pPr>
            <a:r>
              <a:rPr sz="2000" b="1">
                <a:solidFill>
                  <a:srgbClr val="087F8C"/>
                </a:solidFill>
                <a:latin typeface="Times New Roman"/>
              </a:rPr>
              <a:t>Separate workloads</a:t>
            </a:r>
          </a:p>
        </p:txBody>
      </p:sp>
      <p:sp>
        <p:nvSpPr>
          <p:cNvPr id="9" name="TextBox 8"/>
          <p:cNvSpPr txBox="1"/>
          <p:nvPr/>
        </p:nvSpPr>
        <p:spPr>
          <a:xfrm>
            <a:off x="630936" y="2724912"/>
            <a:ext cx="2468880" cy="932688"/>
          </a:xfrm>
          <a:prstGeom prst="rect">
            <a:avLst/>
          </a:prstGeom>
          <a:noFill/>
        </p:spPr>
        <p:txBody>
          <a:bodyPr wrap="square" lIns="22860" rIns="22860" tIns="13716" bIns="0">
            <a:spAutoFit/>
          </a:bodyPr>
          <a:lstStyle/>
          <a:p>
            <a:pPr algn="l">
              <a:spcAft>
                <a:spcPts val="300"/>
              </a:spcAft>
            </a:pPr>
            <a:r>
              <a:rPr sz="1600" b="0">
                <a:solidFill>
                  <a:srgbClr val="172D3C"/>
                </a:solidFill>
                <a:latin typeface="Times New Roman"/>
              </a:rPr>
              <a:t>Pi for perception; Uno for</a:t>
            </a:r>
          </a:p>
          <a:p>
            <a:pPr algn="l">
              <a:spcAft>
                <a:spcPts val="300"/>
              </a:spcAft>
            </a:pPr>
            <a:r>
              <a:rPr sz="1600" b="0">
                <a:solidFill>
                  <a:srgbClr val="172D3C"/>
                </a:solidFill>
                <a:latin typeface="Times New Roman"/>
              </a:rPr>
              <a:t>actuation via an explicit</a:t>
            </a:r>
          </a:p>
          <a:p>
            <a:pPr algn="l">
              <a:spcAft>
                <a:spcPts val="300"/>
              </a:spcAft>
            </a:pPr>
            <a:r>
              <a:rPr sz="1600" b="0">
                <a:solidFill>
                  <a:srgbClr val="172D3C"/>
                </a:solidFill>
                <a:latin typeface="Times New Roman"/>
              </a:rPr>
              <a:t>serial command interface.</a:t>
            </a:r>
          </a:p>
        </p:txBody>
      </p:sp>
      <p:sp>
        <p:nvSpPr>
          <p:cNvPr id="10" name="Oval 9"/>
          <p:cNvSpPr/>
          <p:nvPr/>
        </p:nvSpPr>
        <p:spPr>
          <a:xfrm>
            <a:off x="3328416" y="1399032"/>
            <a:ext cx="493776" cy="493776"/>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600" b="1">
                <a:solidFill>
                  <a:srgbClr val="FFFFFF"/>
                </a:solidFill>
                <a:latin typeface="Times New Roman"/>
              </a:rPr>
              <a:t>CV</a:t>
            </a:r>
          </a:p>
        </p:txBody>
      </p:sp>
      <p:sp>
        <p:nvSpPr>
          <p:cNvPr id="11" name="TextBox 10"/>
          <p:cNvSpPr txBox="1"/>
          <p:nvPr/>
        </p:nvSpPr>
        <p:spPr>
          <a:xfrm>
            <a:off x="3328416" y="2029968"/>
            <a:ext cx="2468880" cy="539496"/>
          </a:xfrm>
          <a:prstGeom prst="rect">
            <a:avLst/>
          </a:prstGeom>
          <a:noFill/>
        </p:spPr>
        <p:txBody>
          <a:bodyPr wrap="square" lIns="22860" rIns="22860" tIns="13716" bIns="0">
            <a:spAutoFit/>
          </a:bodyPr>
          <a:lstStyle/>
          <a:p>
            <a:pPr algn="l">
              <a:spcAft>
                <a:spcPts val="300"/>
              </a:spcAft>
            </a:pPr>
            <a:r>
              <a:rPr sz="2000" b="1">
                <a:solidFill>
                  <a:srgbClr val="355CBC"/>
                </a:solidFill>
                <a:latin typeface="Times New Roman"/>
              </a:rPr>
              <a:t>Fuse complementary cues</a:t>
            </a:r>
          </a:p>
        </p:txBody>
      </p:sp>
      <p:sp>
        <p:nvSpPr>
          <p:cNvPr id="12" name="TextBox 11"/>
          <p:cNvSpPr txBox="1"/>
          <p:nvPr/>
        </p:nvSpPr>
        <p:spPr>
          <a:xfrm>
            <a:off x="3328416" y="2724912"/>
            <a:ext cx="2468880" cy="932688"/>
          </a:xfrm>
          <a:prstGeom prst="rect">
            <a:avLst/>
          </a:prstGeom>
          <a:noFill/>
        </p:spPr>
        <p:txBody>
          <a:bodyPr wrap="square" lIns="22860" rIns="22860" tIns="13716" bIns="0">
            <a:spAutoFit/>
          </a:bodyPr>
          <a:lstStyle/>
          <a:p>
            <a:pPr algn="l">
              <a:spcAft>
                <a:spcPts val="300"/>
              </a:spcAft>
            </a:pPr>
            <a:r>
              <a:rPr sz="1600" b="0">
                <a:solidFill>
                  <a:srgbClr val="172D3C"/>
                </a:solidFill>
                <a:latin typeface="Times New Roman"/>
              </a:rPr>
              <a:t>Lane geometry and learned</a:t>
            </a:r>
          </a:p>
          <a:p>
            <a:pPr algn="l">
              <a:spcAft>
                <a:spcPts val="300"/>
              </a:spcAft>
            </a:pPr>
            <a:r>
              <a:rPr sz="1600" b="0">
                <a:solidFill>
                  <a:srgbClr val="172D3C"/>
                </a:solidFill>
                <a:latin typeface="Times New Roman"/>
              </a:rPr>
              <a:t>hazards, complemented by</a:t>
            </a:r>
          </a:p>
          <a:p>
            <a:pPr algn="l">
              <a:spcAft>
                <a:spcPts val="300"/>
              </a:spcAft>
            </a:pPr>
            <a:r>
              <a:rPr sz="1600" b="0">
                <a:solidFill>
                  <a:srgbClr val="172D3C"/>
                </a:solidFill>
                <a:latin typeface="Times New Roman"/>
              </a:rPr>
              <a:t>nearby-obstacle sonar.</a:t>
            </a:r>
          </a:p>
        </p:txBody>
      </p:sp>
      <p:sp>
        <p:nvSpPr>
          <p:cNvPr id="13" name="Oval 12"/>
          <p:cNvSpPr/>
          <p:nvPr/>
        </p:nvSpPr>
        <p:spPr>
          <a:xfrm>
            <a:off x="6025896" y="1399032"/>
            <a:ext cx="493776" cy="493776"/>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600" b="1">
                <a:solidFill>
                  <a:srgbClr val="FFFFFF"/>
                </a:solidFill>
                <a:latin typeface="Times New Roman"/>
              </a:rPr>
              <a:t>UI</a:t>
            </a:r>
          </a:p>
        </p:txBody>
      </p:sp>
      <p:sp>
        <p:nvSpPr>
          <p:cNvPr id="14" name="TextBox 13"/>
          <p:cNvSpPr txBox="1"/>
          <p:nvPr/>
        </p:nvSpPr>
        <p:spPr>
          <a:xfrm>
            <a:off x="6025896" y="2029968"/>
            <a:ext cx="2468880" cy="539496"/>
          </a:xfrm>
          <a:prstGeom prst="rect">
            <a:avLst/>
          </a:prstGeom>
          <a:noFill/>
        </p:spPr>
        <p:txBody>
          <a:bodyPr wrap="square" lIns="22860" rIns="22860" tIns="13716" bIns="0">
            <a:spAutoFit/>
          </a:bodyPr>
          <a:lstStyle/>
          <a:p>
            <a:pPr algn="l">
              <a:spcAft>
                <a:spcPts val="300"/>
              </a:spcAft>
            </a:pPr>
            <a:r>
              <a:rPr sz="2000" b="1">
                <a:solidFill>
                  <a:srgbClr val="622423"/>
                </a:solidFill>
                <a:latin typeface="Times New Roman"/>
              </a:rPr>
              <a:t>Make actions observable</a:t>
            </a:r>
          </a:p>
        </p:txBody>
      </p:sp>
      <p:sp>
        <p:nvSpPr>
          <p:cNvPr id="15" name="TextBox 14"/>
          <p:cNvSpPr txBox="1"/>
          <p:nvPr/>
        </p:nvSpPr>
        <p:spPr>
          <a:xfrm>
            <a:off x="6025896" y="2724912"/>
            <a:ext cx="2468880" cy="932688"/>
          </a:xfrm>
          <a:prstGeom prst="rect">
            <a:avLst/>
          </a:prstGeom>
          <a:noFill/>
        </p:spPr>
        <p:txBody>
          <a:bodyPr wrap="square" lIns="22860" rIns="22860" tIns="13716" bIns="0">
            <a:spAutoFit/>
          </a:bodyPr>
          <a:lstStyle/>
          <a:p>
            <a:pPr algn="l">
              <a:spcAft>
                <a:spcPts val="300"/>
              </a:spcAft>
            </a:pPr>
            <a:r>
              <a:rPr sz="1600" b="0">
                <a:solidFill>
                  <a:srgbClr val="172D3C"/>
                </a:solidFill>
                <a:latin typeface="Times New Roman"/>
              </a:rPr>
              <a:t>Signs and motion states</a:t>
            </a:r>
          </a:p>
          <a:p>
            <a:pPr algn="l">
              <a:spcAft>
                <a:spcPts val="300"/>
              </a:spcAft>
            </a:pPr>
            <a:r>
              <a:rPr sz="1600" b="0">
                <a:solidFill>
                  <a:srgbClr val="172D3C"/>
                </a:solidFill>
                <a:latin typeface="Times New Roman"/>
              </a:rPr>
              <a:t>appear as dashboard feedback</a:t>
            </a:r>
          </a:p>
          <a:p>
            <a:pPr algn="l">
              <a:spcAft>
                <a:spcPts val="300"/>
              </a:spcAft>
            </a:pPr>
            <a:r>
              <a:rPr sz="1600" b="0">
                <a:solidFill>
                  <a:srgbClr val="172D3C"/>
                </a:solidFill>
                <a:latin typeface="Times New Roman"/>
              </a:rPr>
              <a:t>for observable decisions.</a:t>
            </a:r>
          </a:p>
        </p:txBody>
      </p:sp>
      <p:sp>
        <p:nvSpPr>
          <p:cNvPr id="16" name="TextBox 15"/>
          <p:cNvSpPr txBox="1"/>
          <p:nvPr/>
        </p:nvSpPr>
        <p:spPr>
          <a:xfrm>
            <a:off x="667512" y="3904487"/>
            <a:ext cx="3657600" cy="219456"/>
          </a:xfrm>
          <a:prstGeom prst="rect">
            <a:avLst/>
          </a:prstGeom>
          <a:noFill/>
        </p:spPr>
        <p:txBody>
          <a:bodyPr wrap="square" lIns="22860" rIns="22860" tIns="13716" bIns="0">
            <a:spAutoFit/>
          </a:bodyPr>
          <a:lstStyle/>
          <a:p>
            <a:pPr algn="l">
              <a:spcAft>
                <a:spcPts val="300"/>
              </a:spcAft>
            </a:pPr>
            <a:r>
              <a:rPr sz="1100" b="1">
                <a:solidFill>
                  <a:srgbClr val="16354B"/>
                </a:solidFill>
                <a:latin typeface="Times New Roman"/>
              </a:rPr>
              <a:t>NEXT EXPERIMENTS</a:t>
            </a:r>
          </a:p>
        </p:txBody>
      </p:sp>
      <p:cxnSp>
        <p:nvCxnSpPr>
          <p:cNvPr id="17" name="Connector 16"/>
          <p:cNvCxnSpPr/>
          <p:nvPr/>
        </p:nvCxnSpPr>
        <p:spPr>
          <a:xfrm>
            <a:off x="987552" y="4572000"/>
            <a:ext cx="7077456" cy="0"/>
          </a:xfrm>
          <a:prstGeom prst="line">
            <a:avLst/>
          </a:prstGeom>
          <a:ln w="38100">
            <a:solidFill>
              <a:srgbClr val="B7C9CD"/>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7552" y="4379976"/>
            <a:ext cx="393192" cy="393192"/>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300" b="1">
                <a:solidFill>
                  <a:srgbClr val="FFFFFF"/>
                </a:solidFill>
                <a:latin typeface="Times New Roman"/>
              </a:rPr>
              <a:t>•</a:t>
            </a:r>
          </a:p>
        </p:txBody>
      </p:sp>
      <p:sp>
        <p:nvSpPr>
          <p:cNvPr id="19" name="TextBox 18"/>
          <p:cNvSpPr txBox="1"/>
          <p:nvPr/>
        </p:nvSpPr>
        <p:spPr>
          <a:xfrm>
            <a:off x="1517904" y="4361688"/>
            <a:ext cx="1847088" cy="320040"/>
          </a:xfrm>
          <a:prstGeom prst="rect">
            <a:avLst/>
          </a:prstGeom>
          <a:noFill/>
        </p:spPr>
        <p:txBody>
          <a:bodyPr wrap="square" lIns="22860" rIns="22860" tIns="13716" bIns="0">
            <a:spAutoFit/>
          </a:bodyPr>
          <a:lstStyle/>
          <a:p>
            <a:pPr algn="l">
              <a:spcAft>
                <a:spcPts val="300"/>
              </a:spcAft>
            </a:pPr>
            <a:r>
              <a:rPr sz="1700" b="1">
                <a:solidFill>
                  <a:srgbClr val="087F8C"/>
                </a:solidFill>
                <a:latin typeface="Times New Roman"/>
              </a:rPr>
              <a:t>Measure</a:t>
            </a:r>
          </a:p>
        </p:txBody>
      </p:sp>
      <p:sp>
        <p:nvSpPr>
          <p:cNvPr id="20" name="TextBox 19"/>
          <p:cNvSpPr txBox="1"/>
          <p:nvPr/>
        </p:nvSpPr>
        <p:spPr>
          <a:xfrm>
            <a:off x="1517904" y="4773168"/>
            <a:ext cx="1883664" cy="457200"/>
          </a:xfrm>
          <a:prstGeom prst="rect">
            <a:avLst/>
          </a:prstGeom>
          <a:noFill/>
        </p:spPr>
        <p:txBody>
          <a:bodyPr wrap="square" lIns="22860" rIns="22860" tIns="13716" bIns="0">
            <a:spAutoFit/>
          </a:bodyPr>
          <a:lstStyle/>
          <a:p>
            <a:pPr algn="l">
              <a:spcAft>
                <a:spcPts val="300"/>
              </a:spcAft>
            </a:pPr>
            <a:r>
              <a:rPr sz="1400" b="0">
                <a:solidFill>
                  <a:srgbClr val="172D3C"/>
                </a:solidFill>
                <a:latin typeface="Times New Roman"/>
              </a:rPr>
              <a:t>Latency + braking</a:t>
            </a:r>
          </a:p>
        </p:txBody>
      </p:sp>
      <p:sp>
        <p:nvSpPr>
          <p:cNvPr id="21" name="Oval 20"/>
          <p:cNvSpPr/>
          <p:nvPr/>
        </p:nvSpPr>
        <p:spPr>
          <a:xfrm>
            <a:off x="3337560" y="4379976"/>
            <a:ext cx="393192" cy="393192"/>
          </a:xfrm>
          <a:prstGeom prst="ellipse">
            <a:avLst/>
          </a:prstGeom>
          <a:solidFill>
            <a:srgbClr val="355CB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300" b="1">
                <a:solidFill>
                  <a:srgbClr val="FFFFFF"/>
                </a:solidFill>
                <a:latin typeface="Times New Roman"/>
              </a:rPr>
              <a:t>•</a:t>
            </a:r>
          </a:p>
        </p:txBody>
      </p:sp>
      <p:sp>
        <p:nvSpPr>
          <p:cNvPr id="22" name="TextBox 21"/>
          <p:cNvSpPr txBox="1"/>
          <p:nvPr/>
        </p:nvSpPr>
        <p:spPr>
          <a:xfrm>
            <a:off x="3867911" y="4361688"/>
            <a:ext cx="1847088" cy="320040"/>
          </a:xfrm>
          <a:prstGeom prst="rect">
            <a:avLst/>
          </a:prstGeom>
          <a:noFill/>
        </p:spPr>
        <p:txBody>
          <a:bodyPr wrap="square" lIns="22860" rIns="22860" tIns="13716" bIns="0">
            <a:spAutoFit/>
          </a:bodyPr>
          <a:lstStyle/>
          <a:p>
            <a:pPr algn="l">
              <a:spcAft>
                <a:spcPts val="300"/>
              </a:spcAft>
            </a:pPr>
            <a:r>
              <a:rPr sz="1700" b="1">
                <a:solidFill>
                  <a:srgbClr val="355CBC"/>
                </a:solidFill>
                <a:latin typeface="Times New Roman"/>
              </a:rPr>
              <a:t>Calibrate</a:t>
            </a:r>
          </a:p>
        </p:txBody>
      </p:sp>
      <p:sp>
        <p:nvSpPr>
          <p:cNvPr id="23" name="TextBox 22"/>
          <p:cNvSpPr txBox="1"/>
          <p:nvPr/>
        </p:nvSpPr>
        <p:spPr>
          <a:xfrm>
            <a:off x="3867911" y="4773168"/>
            <a:ext cx="1883664" cy="457200"/>
          </a:xfrm>
          <a:prstGeom prst="rect">
            <a:avLst/>
          </a:prstGeom>
          <a:noFill/>
        </p:spPr>
        <p:txBody>
          <a:bodyPr wrap="square" lIns="22860" rIns="22860" tIns="13716" bIns="0">
            <a:spAutoFit/>
          </a:bodyPr>
          <a:lstStyle/>
          <a:p>
            <a:pPr algn="l">
              <a:spcAft>
                <a:spcPts val="300"/>
              </a:spcAft>
            </a:pPr>
            <a:r>
              <a:rPr sz="1400" b="0">
                <a:solidFill>
                  <a:srgbClr val="172D3C"/>
                </a:solidFill>
                <a:latin typeface="Times New Roman"/>
              </a:rPr>
              <a:t>Turn + camera geometry</a:t>
            </a:r>
          </a:p>
        </p:txBody>
      </p:sp>
      <p:sp>
        <p:nvSpPr>
          <p:cNvPr id="24" name="Oval 23"/>
          <p:cNvSpPr/>
          <p:nvPr/>
        </p:nvSpPr>
        <p:spPr>
          <a:xfrm>
            <a:off x="5687568" y="4379976"/>
            <a:ext cx="393192" cy="393192"/>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1300" b="1">
                <a:solidFill>
                  <a:srgbClr val="FFFFFF"/>
                </a:solidFill>
                <a:latin typeface="Times New Roman"/>
              </a:rPr>
              <a:t>•</a:t>
            </a:r>
          </a:p>
        </p:txBody>
      </p:sp>
      <p:sp>
        <p:nvSpPr>
          <p:cNvPr id="25" name="TextBox 24"/>
          <p:cNvSpPr txBox="1"/>
          <p:nvPr/>
        </p:nvSpPr>
        <p:spPr>
          <a:xfrm>
            <a:off x="6217920" y="4361688"/>
            <a:ext cx="1847088" cy="320040"/>
          </a:xfrm>
          <a:prstGeom prst="rect">
            <a:avLst/>
          </a:prstGeom>
          <a:noFill/>
        </p:spPr>
        <p:txBody>
          <a:bodyPr wrap="square" lIns="22860" rIns="22860" tIns="13716" bIns="0">
            <a:spAutoFit/>
          </a:bodyPr>
          <a:lstStyle/>
          <a:p>
            <a:pPr algn="l">
              <a:spcAft>
                <a:spcPts val="300"/>
              </a:spcAft>
            </a:pPr>
            <a:r>
              <a:rPr sz="1700" b="1">
                <a:solidFill>
                  <a:srgbClr val="622423"/>
                </a:solidFill>
                <a:latin typeface="Times New Roman"/>
              </a:rPr>
              <a:t>Generalize</a:t>
            </a:r>
          </a:p>
        </p:txBody>
      </p:sp>
      <p:sp>
        <p:nvSpPr>
          <p:cNvPr id="26" name="TextBox 25"/>
          <p:cNvSpPr txBox="1"/>
          <p:nvPr/>
        </p:nvSpPr>
        <p:spPr>
          <a:xfrm>
            <a:off x="6217920" y="4773168"/>
            <a:ext cx="1883664" cy="457200"/>
          </a:xfrm>
          <a:prstGeom prst="rect">
            <a:avLst/>
          </a:prstGeom>
          <a:noFill/>
        </p:spPr>
        <p:txBody>
          <a:bodyPr wrap="square" lIns="22860" rIns="22860" tIns="13716" bIns="0">
            <a:spAutoFit/>
          </a:bodyPr>
          <a:lstStyle/>
          <a:p>
            <a:pPr algn="l">
              <a:spcAft>
                <a:spcPts val="300"/>
              </a:spcAft>
            </a:pPr>
            <a:r>
              <a:rPr sz="1400" b="0">
                <a:solidFill>
                  <a:srgbClr val="172D3C"/>
                </a:solidFill>
                <a:latin typeface="Times New Roman"/>
              </a:rPr>
              <a:t>Real photos + rear sensing</a:t>
            </a:r>
          </a:p>
        </p:txBody>
      </p:sp>
      <p:sp>
        <p:nvSpPr>
          <p:cNvPr id="27" name="Rounded Rectangle 26"/>
          <p:cNvSpPr/>
          <p:nvPr/>
        </p:nvSpPr>
        <p:spPr>
          <a:xfrm>
            <a:off x="548640" y="5513832"/>
            <a:ext cx="8046720" cy="347472"/>
          </a:xfrm>
          <a:prstGeom prst="roundRect">
            <a:avLst>
              <a:gd name="adj" fmla="val 10000"/>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Next hardware step: encoders / completed IMU feedback for measured motion instead of timed estimates.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SDG Mapping / Engineering with a Purpose</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PRIMARY ALIGNMENT: SDG 9  /  SUPPORTING LINKS: SDG 3 AND SDG 11</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Sources: official UN targets at sdgs.un.org/goals/goal9, /goal3 and /goal11. Potential contribution, not measured societal impact.</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14</a:t>
            </a:r>
          </a:p>
        </p:txBody>
      </p:sp>
      <p:sp>
        <p:nvSpPr>
          <p:cNvPr id="7" name="Rounded Rectangle 6"/>
          <p:cNvSpPr/>
          <p:nvPr/>
        </p:nvSpPr>
        <p:spPr>
          <a:xfrm>
            <a:off x="630936" y="1362456"/>
            <a:ext cx="2487168" cy="3858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98448" y="1563624"/>
            <a:ext cx="1133856" cy="1133856"/>
          </a:xfrm>
          <a:prstGeom prst="ellipse">
            <a:avLst/>
          </a:prstGeom>
          <a:solidFill>
            <a:srgbClr val="E36F25"/>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3800" b="1">
                <a:solidFill>
                  <a:srgbClr val="FFFFFF"/>
                </a:solidFill>
                <a:latin typeface="Times New Roman"/>
              </a:rPr>
              <a:t>9</a:t>
            </a:r>
          </a:p>
        </p:txBody>
      </p:sp>
      <p:sp>
        <p:nvSpPr>
          <p:cNvPr id="9" name="TextBox 8"/>
          <p:cNvSpPr txBox="1"/>
          <p:nvPr/>
        </p:nvSpPr>
        <p:spPr>
          <a:xfrm>
            <a:off x="740664" y="2852928"/>
            <a:ext cx="2267712" cy="640080"/>
          </a:xfrm>
          <a:prstGeom prst="rect">
            <a:avLst/>
          </a:prstGeom>
          <a:noFill/>
        </p:spPr>
        <p:txBody>
          <a:bodyPr wrap="square" lIns="22860" rIns="22860" tIns="13716" bIns="0">
            <a:spAutoFit/>
          </a:bodyPr>
          <a:lstStyle/>
          <a:p>
            <a:pPr algn="ctr">
              <a:spcAft>
                <a:spcPts val="300"/>
              </a:spcAft>
            </a:pPr>
            <a:r>
              <a:rPr sz="1400" b="1">
                <a:solidFill>
                  <a:srgbClr val="E36F25"/>
                </a:solidFill>
                <a:latin typeface="Times New Roman"/>
              </a:rPr>
              <a:t>INDUSTRY, INNOVATION</a:t>
            </a:r>
          </a:p>
          <a:p>
            <a:pPr algn="ctr">
              <a:spcAft>
                <a:spcPts val="300"/>
              </a:spcAft>
            </a:pPr>
            <a:r>
              <a:rPr sz="1400" b="1">
                <a:solidFill>
                  <a:srgbClr val="E36F25"/>
                </a:solidFill>
                <a:latin typeface="Times New Roman"/>
              </a:rPr>
              <a:t>&amp; INFRASTRUCTURE</a:t>
            </a:r>
          </a:p>
        </p:txBody>
      </p:sp>
      <p:sp>
        <p:nvSpPr>
          <p:cNvPr id="10" name="Rounded Rectangle 9"/>
          <p:cNvSpPr/>
          <p:nvPr/>
        </p:nvSpPr>
        <p:spPr>
          <a:xfrm>
            <a:off x="1133856" y="3575304"/>
            <a:ext cx="1481328" cy="274320"/>
          </a:xfrm>
          <a:prstGeom prst="roundRect">
            <a:avLst>
              <a:gd name="adj" fmla="val 10000"/>
            </a:avLst>
          </a:prstGeom>
          <a:solidFill>
            <a:srgbClr val="E36F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3589020"/>
            <a:ext cx="1408176"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Target 9.5</a:t>
            </a:r>
          </a:p>
        </p:txBody>
      </p:sp>
      <p:sp>
        <p:nvSpPr>
          <p:cNvPr id="12" name="TextBox 11"/>
          <p:cNvSpPr txBox="1"/>
          <p:nvPr/>
        </p:nvSpPr>
        <p:spPr>
          <a:xfrm>
            <a:off x="768096" y="4050791"/>
            <a:ext cx="2212848" cy="758952"/>
          </a:xfrm>
          <a:prstGeom prst="rect">
            <a:avLst/>
          </a:prstGeom>
          <a:noFill/>
        </p:spPr>
        <p:txBody>
          <a:bodyPr wrap="square" lIns="22860" rIns="22860" tIns="13716" bIns="0">
            <a:spAutoFit/>
          </a:bodyPr>
          <a:lstStyle/>
          <a:p>
            <a:pPr algn="ctr">
              <a:spcAft>
                <a:spcPts val="300"/>
              </a:spcAft>
            </a:pPr>
            <a:r>
              <a:rPr sz="1430" b="0">
                <a:solidFill>
                  <a:srgbClr val="172D3C"/>
                </a:solidFill>
                <a:latin typeface="Times New Roman"/>
              </a:rPr>
              <a:t>Affordable robotics research.</a:t>
            </a:r>
          </a:p>
          <a:p>
            <a:pPr algn="ctr">
              <a:spcAft>
                <a:spcPts val="300"/>
              </a:spcAft>
            </a:pPr>
            <a:r>
              <a:rPr sz="1430" b="0">
                <a:solidFill>
                  <a:srgbClr val="172D3C"/>
                </a:solidFill>
                <a:latin typeface="Times New Roman"/>
              </a:rPr>
              <a:t>Modular code and shared</a:t>
            </a:r>
          </a:p>
          <a:p>
            <a:pPr algn="ctr">
              <a:spcAft>
                <a:spcPts val="300"/>
              </a:spcAft>
            </a:pPr>
            <a:r>
              <a:rPr sz="1430" b="0">
                <a:solidFill>
                  <a:srgbClr val="172D3C"/>
                </a:solidFill>
                <a:latin typeface="Times New Roman"/>
              </a:rPr>
              <a:t>validation artifacts.</a:t>
            </a:r>
          </a:p>
        </p:txBody>
      </p:sp>
      <p:sp>
        <p:nvSpPr>
          <p:cNvPr id="13" name="TextBox 12"/>
          <p:cNvSpPr txBox="1"/>
          <p:nvPr/>
        </p:nvSpPr>
        <p:spPr>
          <a:xfrm>
            <a:off x="740664" y="4928616"/>
            <a:ext cx="2267712" cy="292608"/>
          </a:xfrm>
          <a:prstGeom prst="rect">
            <a:avLst/>
          </a:prstGeom>
          <a:noFill/>
        </p:spPr>
        <p:txBody>
          <a:bodyPr wrap="square" lIns="22860" rIns="22860" tIns="13716" bIns="0">
            <a:spAutoFit/>
          </a:bodyPr>
          <a:lstStyle/>
          <a:p>
            <a:pPr algn="ctr">
              <a:spcAft>
                <a:spcPts val="300"/>
              </a:spcAft>
            </a:pPr>
            <a:r>
              <a:rPr sz="1160" b="1">
                <a:solidFill>
                  <a:srgbClr val="E36F25"/>
                </a:solidFill>
                <a:latin typeface="Times New Roman"/>
              </a:rPr>
              <a:t>Direct research / innovation link</a:t>
            </a:r>
          </a:p>
        </p:txBody>
      </p:sp>
      <p:sp>
        <p:nvSpPr>
          <p:cNvPr id="14" name="Rounded Rectangle 13"/>
          <p:cNvSpPr/>
          <p:nvPr/>
        </p:nvSpPr>
        <p:spPr>
          <a:xfrm>
            <a:off x="3328416" y="1362456"/>
            <a:ext cx="2487168" cy="3858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95928" y="1563624"/>
            <a:ext cx="1133856" cy="1133856"/>
          </a:xfrm>
          <a:prstGeom prst="ellipse">
            <a:avLst/>
          </a:prstGeom>
          <a:solidFill>
            <a:srgbClr val="4C9F38"/>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3800" b="1">
                <a:solidFill>
                  <a:srgbClr val="FFFFFF"/>
                </a:solidFill>
                <a:latin typeface="Times New Roman"/>
              </a:rPr>
              <a:t>3</a:t>
            </a:r>
          </a:p>
        </p:txBody>
      </p:sp>
      <p:sp>
        <p:nvSpPr>
          <p:cNvPr id="16" name="TextBox 15"/>
          <p:cNvSpPr txBox="1"/>
          <p:nvPr/>
        </p:nvSpPr>
        <p:spPr>
          <a:xfrm>
            <a:off x="3438144" y="2852928"/>
            <a:ext cx="2267712" cy="640080"/>
          </a:xfrm>
          <a:prstGeom prst="rect">
            <a:avLst/>
          </a:prstGeom>
          <a:noFill/>
        </p:spPr>
        <p:txBody>
          <a:bodyPr wrap="square" lIns="22860" rIns="22860" tIns="13716" bIns="0">
            <a:spAutoFit/>
          </a:bodyPr>
          <a:lstStyle/>
          <a:p>
            <a:pPr algn="ctr">
              <a:spcAft>
                <a:spcPts val="300"/>
              </a:spcAft>
            </a:pPr>
            <a:r>
              <a:rPr sz="1500" b="1">
                <a:solidFill>
                  <a:srgbClr val="4C9F38"/>
                </a:solidFill>
                <a:latin typeface="Times New Roman"/>
              </a:rPr>
              <a:t>GOOD HEALTH</a:t>
            </a:r>
          </a:p>
          <a:p>
            <a:pPr algn="ctr">
              <a:spcAft>
                <a:spcPts val="300"/>
              </a:spcAft>
            </a:pPr>
            <a:r>
              <a:rPr sz="1500" b="1">
                <a:solidFill>
                  <a:srgbClr val="4C9F38"/>
                </a:solidFill>
                <a:latin typeface="Times New Roman"/>
              </a:rPr>
              <a:t>AND WELL-BEING</a:t>
            </a:r>
          </a:p>
        </p:txBody>
      </p:sp>
      <p:sp>
        <p:nvSpPr>
          <p:cNvPr id="17" name="Rounded Rectangle 16"/>
          <p:cNvSpPr/>
          <p:nvPr/>
        </p:nvSpPr>
        <p:spPr>
          <a:xfrm>
            <a:off x="3831336" y="3575304"/>
            <a:ext cx="1481328" cy="274320"/>
          </a:xfrm>
          <a:prstGeom prst="roundRect">
            <a:avLst>
              <a:gd name="adj" fmla="val 10000"/>
            </a:avLst>
          </a:prstGeom>
          <a:solidFill>
            <a:srgbClr val="4C9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67912" y="3589020"/>
            <a:ext cx="1408176"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Target 3.6</a:t>
            </a:r>
          </a:p>
        </p:txBody>
      </p:sp>
      <p:sp>
        <p:nvSpPr>
          <p:cNvPr id="19" name="TextBox 18"/>
          <p:cNvSpPr txBox="1"/>
          <p:nvPr/>
        </p:nvSpPr>
        <p:spPr>
          <a:xfrm>
            <a:off x="3465576" y="4050791"/>
            <a:ext cx="2212848" cy="758952"/>
          </a:xfrm>
          <a:prstGeom prst="rect">
            <a:avLst/>
          </a:prstGeom>
          <a:noFill/>
        </p:spPr>
        <p:txBody>
          <a:bodyPr wrap="square" lIns="22860" rIns="22860" tIns="13716" bIns="0">
            <a:spAutoFit/>
          </a:bodyPr>
          <a:lstStyle/>
          <a:p>
            <a:pPr algn="ctr">
              <a:spcAft>
                <a:spcPts val="300"/>
              </a:spcAft>
            </a:pPr>
            <a:r>
              <a:rPr sz="1430" b="0">
                <a:solidFill>
                  <a:srgbClr val="172D3C"/>
                </a:solidFill>
                <a:latin typeface="Times New Roman"/>
              </a:rPr>
              <a:t>Study obstacle sensing and</a:t>
            </a:r>
          </a:p>
          <a:p>
            <a:pPr algn="ctr">
              <a:spcAft>
                <a:spcPts val="300"/>
              </a:spcAft>
            </a:pPr>
            <a:r>
              <a:rPr sz="1430" b="0">
                <a:solidFill>
                  <a:srgbClr val="172D3C"/>
                </a:solidFill>
                <a:latin typeface="Times New Roman"/>
              </a:rPr>
              <a:t>stop decisions as foundations</a:t>
            </a:r>
          </a:p>
          <a:p>
            <a:pPr algn="ctr">
              <a:spcAft>
                <a:spcPts val="300"/>
              </a:spcAft>
            </a:pPr>
            <a:r>
              <a:rPr sz="1430" b="0">
                <a:solidFill>
                  <a:srgbClr val="172D3C"/>
                </a:solidFill>
                <a:latin typeface="Times New Roman"/>
              </a:rPr>
              <a:t>for collision-risk research.</a:t>
            </a:r>
          </a:p>
        </p:txBody>
      </p:sp>
      <p:sp>
        <p:nvSpPr>
          <p:cNvPr id="20" name="TextBox 19"/>
          <p:cNvSpPr txBox="1"/>
          <p:nvPr/>
        </p:nvSpPr>
        <p:spPr>
          <a:xfrm>
            <a:off x="3438144" y="4928616"/>
            <a:ext cx="2267712" cy="292608"/>
          </a:xfrm>
          <a:prstGeom prst="rect">
            <a:avLst/>
          </a:prstGeom>
          <a:noFill/>
        </p:spPr>
        <p:txBody>
          <a:bodyPr wrap="square" lIns="22860" rIns="22860" tIns="13716" bIns="0">
            <a:spAutoFit/>
          </a:bodyPr>
          <a:lstStyle/>
          <a:p>
            <a:pPr algn="ctr">
              <a:spcAft>
                <a:spcPts val="300"/>
              </a:spcAft>
            </a:pPr>
            <a:r>
              <a:rPr sz="1160" b="1">
                <a:solidFill>
                  <a:srgbClr val="4C9F38"/>
                </a:solidFill>
                <a:latin typeface="Times New Roman"/>
              </a:rPr>
              <a:t>No injury-reduction claim</a:t>
            </a:r>
          </a:p>
        </p:txBody>
      </p:sp>
      <p:sp>
        <p:nvSpPr>
          <p:cNvPr id="21" name="Rounded Rectangle 20"/>
          <p:cNvSpPr/>
          <p:nvPr/>
        </p:nvSpPr>
        <p:spPr>
          <a:xfrm>
            <a:off x="6025896" y="1362456"/>
            <a:ext cx="2487168" cy="385876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93408" y="1563624"/>
            <a:ext cx="1133856" cy="1133856"/>
          </a:xfrm>
          <a:prstGeom prst="ellipse">
            <a:avLst/>
          </a:prstGeom>
          <a:solidFill>
            <a:srgbClr val="D99D26"/>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3800" b="1">
                <a:solidFill>
                  <a:srgbClr val="FFFFFF"/>
                </a:solidFill>
                <a:latin typeface="Times New Roman"/>
              </a:rPr>
              <a:t>11</a:t>
            </a:r>
          </a:p>
        </p:txBody>
      </p:sp>
      <p:sp>
        <p:nvSpPr>
          <p:cNvPr id="23" name="TextBox 22"/>
          <p:cNvSpPr txBox="1"/>
          <p:nvPr/>
        </p:nvSpPr>
        <p:spPr>
          <a:xfrm>
            <a:off x="6135624" y="2852928"/>
            <a:ext cx="2267712" cy="640080"/>
          </a:xfrm>
          <a:prstGeom prst="rect">
            <a:avLst/>
          </a:prstGeom>
          <a:noFill/>
        </p:spPr>
        <p:txBody>
          <a:bodyPr wrap="square" lIns="22860" rIns="22860" tIns="13716" bIns="0">
            <a:spAutoFit/>
          </a:bodyPr>
          <a:lstStyle/>
          <a:p>
            <a:pPr algn="ctr">
              <a:spcAft>
                <a:spcPts val="300"/>
              </a:spcAft>
            </a:pPr>
            <a:r>
              <a:rPr sz="1500" b="1">
                <a:solidFill>
                  <a:srgbClr val="D99D26"/>
                </a:solidFill>
                <a:latin typeface="Times New Roman"/>
              </a:rPr>
              <a:t>SUSTAINABLE CITIES</a:t>
            </a:r>
          </a:p>
          <a:p>
            <a:pPr algn="ctr">
              <a:spcAft>
                <a:spcPts val="300"/>
              </a:spcAft>
            </a:pPr>
            <a:r>
              <a:rPr sz="1500" b="1">
                <a:solidFill>
                  <a:srgbClr val="D99D26"/>
                </a:solidFill>
                <a:latin typeface="Times New Roman"/>
              </a:rPr>
              <a:t>AND COMMUNITIES</a:t>
            </a:r>
          </a:p>
        </p:txBody>
      </p:sp>
      <p:sp>
        <p:nvSpPr>
          <p:cNvPr id="24" name="Rounded Rectangle 23"/>
          <p:cNvSpPr/>
          <p:nvPr/>
        </p:nvSpPr>
        <p:spPr>
          <a:xfrm>
            <a:off x="6528816" y="3575304"/>
            <a:ext cx="1481328" cy="274320"/>
          </a:xfrm>
          <a:prstGeom prst="roundRect">
            <a:avLst>
              <a:gd name="adj" fmla="val 10000"/>
            </a:avLst>
          </a:prstGeom>
          <a:solidFill>
            <a:srgbClr val="D99D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3589020"/>
            <a:ext cx="1408176" cy="237744"/>
          </a:xfrm>
          <a:prstGeom prst="rect">
            <a:avLst/>
          </a:prstGeom>
          <a:noFill/>
        </p:spPr>
        <p:txBody>
          <a:bodyPr wrap="square" lIns="22860" rIns="22860" tIns="13716" bIns="0">
            <a:spAutoFit/>
          </a:bodyPr>
          <a:lstStyle/>
          <a:p>
            <a:pPr algn="ctr">
              <a:spcAft>
                <a:spcPts val="300"/>
              </a:spcAft>
            </a:pPr>
            <a:r>
              <a:rPr sz="1050" b="1">
                <a:solidFill>
                  <a:srgbClr val="FFFFFF"/>
                </a:solidFill>
                <a:latin typeface="Times New Roman"/>
              </a:rPr>
              <a:t>Target 11.2</a:t>
            </a:r>
          </a:p>
        </p:txBody>
      </p:sp>
      <p:sp>
        <p:nvSpPr>
          <p:cNvPr id="26" name="TextBox 25"/>
          <p:cNvSpPr txBox="1"/>
          <p:nvPr/>
        </p:nvSpPr>
        <p:spPr>
          <a:xfrm>
            <a:off x="6163056" y="4050791"/>
            <a:ext cx="2212848" cy="758952"/>
          </a:xfrm>
          <a:prstGeom prst="rect">
            <a:avLst/>
          </a:prstGeom>
          <a:noFill/>
        </p:spPr>
        <p:txBody>
          <a:bodyPr wrap="square" lIns="22860" rIns="22860" tIns="13716" bIns="0">
            <a:spAutoFit/>
          </a:bodyPr>
          <a:lstStyle/>
          <a:p>
            <a:pPr algn="ctr">
              <a:spcAft>
                <a:spcPts val="300"/>
              </a:spcAft>
            </a:pPr>
            <a:r>
              <a:rPr sz="1430" b="0">
                <a:solidFill>
                  <a:srgbClr val="172D3C"/>
                </a:solidFill>
                <a:latin typeface="Times New Roman"/>
              </a:rPr>
              <a:t>Explore safer mobility</a:t>
            </a:r>
          </a:p>
          <a:p>
            <a:pPr algn="ctr">
              <a:spcAft>
                <a:spcPts val="300"/>
              </a:spcAft>
            </a:pPr>
            <a:r>
              <a:rPr sz="1430" b="0">
                <a:solidFill>
                  <a:srgbClr val="172D3C"/>
                </a:solidFill>
                <a:latin typeface="Times New Roman"/>
              </a:rPr>
              <a:t>technology through a small</a:t>
            </a:r>
          </a:p>
          <a:p>
            <a:pPr algn="ctr">
              <a:spcAft>
                <a:spcPts val="300"/>
              </a:spcAft>
            </a:pPr>
            <a:r>
              <a:rPr sz="1430" b="0">
                <a:solidFill>
                  <a:srgbClr val="172D3C"/>
                </a:solidFill>
                <a:latin typeface="Times New Roman"/>
              </a:rPr>
              <a:t>controlled-track platform.</a:t>
            </a:r>
          </a:p>
        </p:txBody>
      </p:sp>
      <p:sp>
        <p:nvSpPr>
          <p:cNvPr id="27" name="TextBox 26"/>
          <p:cNvSpPr txBox="1"/>
          <p:nvPr/>
        </p:nvSpPr>
        <p:spPr>
          <a:xfrm>
            <a:off x="6135624" y="4928616"/>
            <a:ext cx="2267712" cy="292608"/>
          </a:xfrm>
          <a:prstGeom prst="rect">
            <a:avLst/>
          </a:prstGeom>
          <a:noFill/>
        </p:spPr>
        <p:txBody>
          <a:bodyPr wrap="square" lIns="22860" rIns="22860" tIns="13716" bIns="0">
            <a:spAutoFit/>
          </a:bodyPr>
          <a:lstStyle/>
          <a:p>
            <a:pPr algn="ctr">
              <a:spcAft>
                <a:spcPts val="300"/>
              </a:spcAft>
            </a:pPr>
            <a:r>
              <a:rPr sz="1160" b="1">
                <a:solidFill>
                  <a:srgbClr val="D99D26"/>
                </a:solidFill>
                <a:latin typeface="Times New Roman"/>
              </a:rPr>
              <a:t>No deployed transport claim</a:t>
            </a:r>
          </a:p>
        </p:txBody>
      </p:sp>
      <p:sp>
        <p:nvSpPr>
          <p:cNvPr id="28" name="Rounded Rectangle 27"/>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Primary: SDG 9.5 research and innovation. Supporting: safety and mobility research (3.6 and 11.2).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Paper Status Till Final Presentation</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PUBLICATION PROGRESS  /  MANUSCRIPT → SUBMISSION → DECISION</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Source: team confirmation in this chat; supplied final manuscript. Venue, submission ID and decision email were not provided.</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15</a:t>
            </a:r>
          </a:p>
        </p:txBody>
      </p:sp>
      <p:sp>
        <p:nvSpPr>
          <p:cNvPr id="7" name="Rounded Rectangle 6"/>
          <p:cNvSpPr/>
          <p:nvPr/>
        </p:nvSpPr>
        <p:spPr>
          <a:xfrm>
            <a:off x="694944" y="1426464"/>
            <a:ext cx="7754112" cy="1097280"/>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7315200" cy="685800"/>
          </a:xfrm>
          <a:prstGeom prst="rect">
            <a:avLst/>
          </a:prstGeom>
          <a:noFill/>
        </p:spPr>
        <p:txBody>
          <a:bodyPr wrap="square" lIns="22860" rIns="22860" tIns="13716" bIns="0">
            <a:spAutoFit/>
          </a:bodyPr>
          <a:lstStyle/>
          <a:p>
            <a:pPr algn="ctr">
              <a:spcAft>
                <a:spcPts val="300"/>
              </a:spcAft>
            </a:pPr>
            <a:r>
              <a:rPr sz="2400" b="1">
                <a:solidFill>
                  <a:srgbClr val="FFFFFF"/>
                </a:solidFill>
                <a:latin typeface="Times New Roman"/>
              </a:rPr>
              <a:t>Autonomous RC Car Using Two-Layer Edge</a:t>
            </a:r>
          </a:p>
          <a:p>
            <a:pPr algn="ctr">
              <a:spcAft>
                <a:spcPts val="300"/>
              </a:spcAft>
            </a:pPr>
            <a:r>
              <a:rPr sz="2400" b="1">
                <a:solidFill>
                  <a:srgbClr val="FFFFFF"/>
                </a:solidFill>
                <a:latin typeface="Times New Roman"/>
              </a:rPr>
              <a:t>Perception and Real-Time Embedded Control</a:t>
            </a:r>
          </a:p>
        </p:txBody>
      </p:sp>
      <p:cxnSp>
        <p:nvCxnSpPr>
          <p:cNvPr id="9" name="Connector 8"/>
          <p:cNvCxnSpPr/>
          <p:nvPr/>
        </p:nvCxnSpPr>
        <p:spPr>
          <a:xfrm>
            <a:off x="1600200" y="3227832"/>
            <a:ext cx="5907024" cy="0"/>
          </a:xfrm>
          <a:prstGeom prst="line">
            <a:avLst/>
          </a:prstGeom>
          <a:ln w="50800">
            <a:solidFill>
              <a:srgbClr val="BDCDCE"/>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234440" y="2862072"/>
            <a:ext cx="731520" cy="731520"/>
          </a:xfrm>
          <a:prstGeom prst="ellipse">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2600" b="1">
                <a:solidFill>
                  <a:srgbClr val="FFFFFF"/>
                </a:solidFill>
                <a:latin typeface="Times New Roman"/>
              </a:rPr>
              <a:t>✓</a:t>
            </a:r>
          </a:p>
        </p:txBody>
      </p:sp>
      <p:sp>
        <p:nvSpPr>
          <p:cNvPr id="11" name="TextBox 10"/>
          <p:cNvSpPr txBox="1"/>
          <p:nvPr/>
        </p:nvSpPr>
        <p:spPr>
          <a:xfrm>
            <a:off x="649224" y="3822191"/>
            <a:ext cx="1901952" cy="512064"/>
          </a:xfrm>
          <a:prstGeom prst="rect">
            <a:avLst/>
          </a:prstGeom>
          <a:noFill/>
        </p:spPr>
        <p:txBody>
          <a:bodyPr wrap="square" lIns="22860" rIns="22860" tIns="13716" bIns="0">
            <a:spAutoFit/>
          </a:bodyPr>
          <a:lstStyle/>
          <a:p>
            <a:pPr algn="ctr">
              <a:spcAft>
                <a:spcPts val="300"/>
              </a:spcAft>
            </a:pPr>
            <a:r>
              <a:rPr sz="1800" b="1">
                <a:solidFill>
                  <a:srgbClr val="087F8C"/>
                </a:solidFill>
                <a:latin typeface="Times New Roman"/>
              </a:rPr>
              <a:t>Manuscript prepared</a:t>
            </a:r>
          </a:p>
        </p:txBody>
      </p:sp>
      <p:sp>
        <p:nvSpPr>
          <p:cNvPr id="12" name="Oval 11"/>
          <p:cNvSpPr/>
          <p:nvPr/>
        </p:nvSpPr>
        <p:spPr>
          <a:xfrm>
            <a:off x="3840480" y="2862072"/>
            <a:ext cx="731520" cy="731520"/>
          </a:xfrm>
          <a:prstGeom prst="ellipse">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2600" b="1">
                <a:solidFill>
                  <a:srgbClr val="FFFFFF"/>
                </a:solidFill>
                <a:latin typeface="Times New Roman"/>
              </a:rPr>
              <a:t>✓</a:t>
            </a:r>
          </a:p>
        </p:txBody>
      </p:sp>
      <p:sp>
        <p:nvSpPr>
          <p:cNvPr id="13" name="TextBox 12"/>
          <p:cNvSpPr txBox="1"/>
          <p:nvPr/>
        </p:nvSpPr>
        <p:spPr>
          <a:xfrm>
            <a:off x="3255264" y="3822191"/>
            <a:ext cx="1901952" cy="512064"/>
          </a:xfrm>
          <a:prstGeom prst="rect">
            <a:avLst/>
          </a:prstGeom>
          <a:noFill/>
        </p:spPr>
        <p:txBody>
          <a:bodyPr wrap="square" lIns="22860" rIns="22860" tIns="13716" bIns="0">
            <a:spAutoFit/>
          </a:bodyPr>
          <a:lstStyle/>
          <a:p>
            <a:pPr algn="ctr">
              <a:spcAft>
                <a:spcPts val="300"/>
              </a:spcAft>
            </a:pPr>
            <a:r>
              <a:rPr sz="1800" b="1">
                <a:solidFill>
                  <a:srgbClr val="622423"/>
                </a:solidFill>
                <a:latin typeface="Times New Roman"/>
              </a:rPr>
              <a:t>SUBMITTED</a:t>
            </a:r>
          </a:p>
        </p:txBody>
      </p:sp>
      <p:sp>
        <p:nvSpPr>
          <p:cNvPr id="14" name="Oval 13"/>
          <p:cNvSpPr/>
          <p:nvPr/>
        </p:nvSpPr>
        <p:spPr>
          <a:xfrm>
            <a:off x="6492240" y="2862072"/>
            <a:ext cx="731520" cy="731520"/>
          </a:xfrm>
          <a:prstGeom prst="ellipse">
            <a:avLst/>
          </a:prstGeom>
          <a:solidFill>
            <a:srgbClr val="536775"/>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sz="2600" b="1">
                <a:solidFill>
                  <a:srgbClr val="FFFFFF"/>
                </a:solidFill>
                <a:latin typeface="Times New Roman"/>
              </a:rPr>
              <a:t>…</a:t>
            </a:r>
          </a:p>
        </p:txBody>
      </p:sp>
      <p:sp>
        <p:nvSpPr>
          <p:cNvPr id="15" name="TextBox 14"/>
          <p:cNvSpPr txBox="1"/>
          <p:nvPr/>
        </p:nvSpPr>
        <p:spPr>
          <a:xfrm>
            <a:off x="5907024" y="3822191"/>
            <a:ext cx="1901952" cy="512064"/>
          </a:xfrm>
          <a:prstGeom prst="rect">
            <a:avLst/>
          </a:prstGeom>
          <a:noFill/>
        </p:spPr>
        <p:txBody>
          <a:bodyPr wrap="square" lIns="22860" rIns="22860" tIns="13716" bIns="0">
            <a:spAutoFit/>
          </a:bodyPr>
          <a:lstStyle/>
          <a:p>
            <a:pPr algn="ctr">
              <a:spcAft>
                <a:spcPts val="300"/>
              </a:spcAft>
            </a:pPr>
            <a:r>
              <a:rPr sz="1800" b="1">
                <a:solidFill>
                  <a:srgbClr val="536775"/>
                </a:solidFill>
                <a:latin typeface="Times New Roman"/>
              </a:rPr>
              <a:t>Decision awaited</a:t>
            </a:r>
          </a:p>
        </p:txBody>
      </p:sp>
      <p:sp>
        <p:nvSpPr>
          <p:cNvPr id="17" name="Rounded Rectangle 16"/>
          <p:cNvSpPr/>
          <p:nvPr/>
        </p:nvSpPr>
        <p:spPr>
          <a:xfrm>
            <a:off x="548640" y="5513832"/>
            <a:ext cx="8046720" cy="347472"/>
          </a:xfrm>
          <a:prstGeom prst="roundRect">
            <a:avLst>
              <a:gd name="adj" fmla="val 10000"/>
            </a:avLst>
          </a:prstGeom>
          <a:solidFill>
            <a:srgbClr val="622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Current team-confirmed status: submitted. Acceptance has not been confirmed.</a:t>
            </a:r>
          </a:p>
        </p:txBody>
      </p:sp>
      <p:sp>
        <p:nvSpPr>
          <p:cNvPr id="19" name="TextBox 18"/>
          <p:cNvSpPr txBox="1"/>
          <p:nvPr/>
        </p:nvSpPr>
        <p:spPr>
          <a:xfrm>
            <a:off x="969264" y="4818888"/>
            <a:ext cx="7178040" cy="429768"/>
          </a:xfrm>
          <a:prstGeom prst="rect">
            <a:avLst/>
          </a:prstGeom>
          <a:noFill/>
        </p:spPr>
        <p:txBody>
          <a:bodyPr wrap="square" lIns="22860" rIns="22860" tIns="13716" bIns="0">
            <a:spAutoFit/>
          </a:bodyPr>
          <a:lstStyle/>
          <a:p>
            <a:pPr algn="ctr">
              <a:spcAft>
                <a:spcPts val="300"/>
              </a:spcAft>
            </a:pPr>
            <a:r>
              <a:rPr sz="1700" b="0">
                <a:solidFill>
                  <a:srgbClr val="536775"/>
                </a:solidFill>
                <a:latin typeface="Times New Roman"/>
              </a:rPr>
              <a:t>Venue and decision details will be added when available.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47472"/>
            <a:ext cx="8138160" cy="576072"/>
          </a:xfrm>
          <a:prstGeom prst="rect">
            <a:avLst/>
          </a:prstGeom>
          <a:noFill/>
        </p:spPr>
        <p:txBody>
          <a:bodyPr wrap="square" lIns="22860" rIns="22860" tIns="13716" bIns="0">
            <a:spAutoFit/>
          </a:bodyPr>
          <a:lstStyle/>
          <a:p>
            <a:pPr algn="ctr">
              <a:spcAft>
                <a:spcPts val="300"/>
              </a:spcAft>
            </a:pPr>
            <a:r>
              <a:rPr sz="2700" b="1">
                <a:solidFill>
                  <a:srgbClr val="000000"/>
                </a:solidFill>
                <a:latin typeface="Times New Roman"/>
              </a:rPr>
              <a:t>References / Reproducible Evidence</a:t>
            </a:r>
          </a:p>
        </p:txBody>
      </p:sp>
      <p:sp>
        <p:nvSpPr>
          <p:cNvPr id="3" name="TextBox 2"/>
          <p:cNvSpPr txBox="1"/>
          <p:nvPr/>
        </p:nvSpPr>
        <p:spPr>
          <a:xfrm>
            <a:off x="576072" y="932688"/>
            <a:ext cx="8001000" cy="210312"/>
          </a:xfrm>
          <a:prstGeom prst="rect">
            <a:avLst/>
          </a:prstGeom>
          <a:noFill/>
        </p:spPr>
        <p:txBody>
          <a:bodyPr wrap="square" lIns="22860" rIns="22860" tIns="13716" bIns="0">
            <a:spAutoFit/>
          </a:bodyPr>
          <a:lstStyle/>
          <a:p>
            <a:pPr algn="ctr">
              <a:spcAft>
                <a:spcPts val="300"/>
              </a:spcAft>
            </a:pPr>
            <a:r>
              <a:rPr sz="1100" b="1">
                <a:solidFill>
                  <a:srgbClr val="622423"/>
                </a:solidFill>
                <a:latin typeface="Times New Roman"/>
              </a:rPr>
              <a:t>RESEARCH → CODE → MODEL LOGS  /  CLICKABLE SOURCES</a:t>
            </a:r>
          </a:p>
        </p:txBody>
      </p:sp>
      <p:sp>
        <p:nvSpPr>
          <p:cNvPr id="4" name="TextBox 3"/>
          <p:cNvSpPr txBox="1"/>
          <p:nvPr/>
        </p:nvSpPr>
        <p:spPr>
          <a:xfrm>
            <a:off x="502920" y="5971032"/>
            <a:ext cx="8092440" cy="274320"/>
          </a:xfrm>
          <a:prstGeom prst="rect">
            <a:avLst/>
          </a:prstGeom>
          <a:noFill/>
        </p:spPr>
        <p:txBody>
          <a:bodyPr wrap="square" lIns="22860" rIns="22860" tIns="13716" bIns="0">
            <a:spAutoFit/>
          </a:bodyPr>
          <a:lstStyle/>
          <a:p>
            <a:pPr algn="l">
              <a:spcAft>
                <a:spcPts val="300"/>
              </a:spcAft>
            </a:pPr>
            <a:r>
              <a:rPr sz="930" b="0">
                <a:solidFill>
                  <a:srgbClr val="536775"/>
                </a:solidFill>
                <a:latin typeface="Times New Roman"/>
              </a:rPr>
              <a:t>Repository review basis: Krishna main 9aeb238. Detailed traceability and examiner Q&amp;A are in the speaker notes and companion guide.</a:t>
            </a:r>
          </a:p>
        </p:txBody>
      </p:sp>
      <p:sp>
        <p:nvSpPr>
          <p:cNvPr id="5" name="TextBox 4"/>
          <p:cNvSpPr txBox="1"/>
          <p:nvPr/>
        </p:nvSpPr>
        <p:spPr>
          <a:xfrm>
            <a:off x="457200" y="6364224"/>
            <a:ext cx="1828800" cy="201168"/>
          </a:xfrm>
          <a:prstGeom prst="rect">
            <a:avLst/>
          </a:prstGeom>
          <a:noFill/>
        </p:spPr>
        <p:txBody>
          <a:bodyPr wrap="square" lIns="22860" rIns="22860" tIns="13716" bIns="0">
            <a:spAutoFit/>
          </a:bodyPr>
          <a:lstStyle/>
          <a:p>
            <a:pPr algn="l">
              <a:spcAft>
                <a:spcPts val="300"/>
              </a:spcAft>
            </a:pPr>
            <a:r>
              <a:rPr sz="1100" b="0">
                <a:solidFill>
                  <a:srgbClr val="888888"/>
                </a:solidFill>
                <a:latin typeface="Times New Roman"/>
              </a:rPr>
              <a:t>30/10/2026</a:t>
            </a:r>
          </a:p>
        </p:txBody>
      </p:sp>
      <p:sp>
        <p:nvSpPr>
          <p:cNvPr id="6" name="TextBox 5"/>
          <p:cNvSpPr txBox="1"/>
          <p:nvPr/>
        </p:nvSpPr>
        <p:spPr>
          <a:xfrm>
            <a:off x="8138160" y="6364224"/>
            <a:ext cx="457200" cy="201168"/>
          </a:xfrm>
          <a:prstGeom prst="rect">
            <a:avLst/>
          </a:prstGeom>
          <a:noFill/>
        </p:spPr>
        <p:txBody>
          <a:bodyPr wrap="square" lIns="22860" rIns="22860" tIns="13716" bIns="0">
            <a:spAutoFit/>
          </a:bodyPr>
          <a:lstStyle/>
          <a:p>
            <a:pPr algn="r">
              <a:spcAft>
                <a:spcPts val="300"/>
              </a:spcAft>
            </a:pPr>
            <a:r>
              <a:rPr sz="1100" b="0">
                <a:solidFill>
                  <a:srgbClr val="888888"/>
                </a:solidFill>
                <a:latin typeface="Times New Roman"/>
              </a:rPr>
              <a:t>16</a:t>
            </a:r>
          </a:p>
        </p:txBody>
      </p:sp>
      <p:sp>
        <p:nvSpPr>
          <p:cNvPr id="7" name="TextBox 6"/>
          <p:cNvSpPr txBox="1"/>
          <p:nvPr/>
        </p:nvSpPr>
        <p:spPr>
          <a:xfrm>
            <a:off x="676656" y="1380744"/>
            <a:ext cx="3657600" cy="219456"/>
          </a:xfrm>
          <a:prstGeom prst="rect">
            <a:avLst/>
          </a:prstGeom>
          <a:noFill/>
        </p:spPr>
        <p:txBody>
          <a:bodyPr wrap="square" lIns="22860" rIns="22860" tIns="13716" bIns="0">
            <a:spAutoFit/>
          </a:bodyPr>
          <a:lstStyle/>
          <a:p>
            <a:pPr algn="l">
              <a:spcAft>
                <a:spcPts val="300"/>
              </a:spcAft>
            </a:pPr>
            <a:r>
              <a:rPr sz="1100" b="1">
                <a:solidFill>
                  <a:srgbClr val="087F8C"/>
                </a:solidFill>
                <a:latin typeface="Times New Roman"/>
              </a:rPr>
              <a:t>METHODS</a:t>
            </a:r>
          </a:p>
        </p:txBody>
      </p:sp>
      <p:sp>
        <p:nvSpPr>
          <p:cNvPr id="8" name="TextBox 7">
            <a:hlinkClick r:id="rId2"/>
          </p:cNvPr>
          <p:cNvSpPr txBox="1"/>
          <p:nvPr/>
        </p:nvSpPr>
        <p:spPr>
          <a:xfrm>
            <a:off x="676656" y="1792224"/>
            <a:ext cx="3694176" cy="722375"/>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[1] Wang et al. YOLOv10: Real-Time End-to-End Object Detection. 2024. arXiv:2405.14458.</a:t>
            </a:r>
          </a:p>
        </p:txBody>
      </p:sp>
      <p:sp>
        <p:nvSpPr>
          <p:cNvPr id="9" name="TextBox 8">
            <a:hlinkClick r:id="rId3"/>
          </p:cNvPr>
          <p:cNvSpPr txBox="1"/>
          <p:nvPr/>
        </p:nvSpPr>
        <p:spPr>
          <a:xfrm>
            <a:off x="676656" y="2551176"/>
            <a:ext cx="3694176" cy="722375"/>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[2] Henriques et al. High-Speed Tracking with Kernelized Correlation Filters. IEEE TPAMI, 2015. DOI:10.1109/TPAMI.2014.2345390.</a:t>
            </a:r>
          </a:p>
        </p:txBody>
      </p:sp>
      <p:sp>
        <p:nvSpPr>
          <p:cNvPr id="10" name="TextBox 9">
            <a:hlinkClick r:id="rId4"/>
          </p:cNvPr>
          <p:cNvSpPr txBox="1"/>
          <p:nvPr/>
        </p:nvSpPr>
        <p:spPr>
          <a:xfrm>
            <a:off x="676656" y="3310128"/>
            <a:ext cx="3694176" cy="722375"/>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[3] Arya et al. RDD2022: A multi-national image dataset for automatic road damage detection. 2024. DOI:10.1002/gdj3.260.</a:t>
            </a:r>
          </a:p>
        </p:txBody>
      </p:sp>
      <p:sp>
        <p:nvSpPr>
          <p:cNvPr id="11" name="TextBox 10">
            <a:hlinkClick r:id="rId5"/>
          </p:cNvPr>
          <p:cNvSpPr txBox="1"/>
          <p:nvPr/>
        </p:nvSpPr>
        <p:spPr>
          <a:xfrm>
            <a:off x="676656" y="4069080"/>
            <a:ext cx="3694176" cy="722375"/>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[4] Müller &amp; Koltun. OpenBot: Turning Smartphones into Robots. ECCV, 2020.</a:t>
            </a:r>
          </a:p>
        </p:txBody>
      </p:sp>
      <p:sp>
        <p:nvSpPr>
          <p:cNvPr id="12" name="TextBox 11">
            <a:hlinkClick r:id="rId6"/>
          </p:cNvPr>
          <p:cNvSpPr txBox="1"/>
          <p:nvPr/>
        </p:nvSpPr>
        <p:spPr>
          <a:xfrm>
            <a:off x="676656" y="4828032"/>
            <a:ext cx="3694176" cy="722375"/>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[5] Paull et al. Duckietown: An Open, Inexpensive and Flexible Platform for Autonomy Education and Research. ICRA, 2017.</a:t>
            </a:r>
          </a:p>
        </p:txBody>
      </p:sp>
      <p:sp>
        <p:nvSpPr>
          <p:cNvPr id="13" name="TextBox 12"/>
          <p:cNvSpPr txBox="1"/>
          <p:nvPr/>
        </p:nvSpPr>
        <p:spPr>
          <a:xfrm>
            <a:off x="4681728" y="1380744"/>
            <a:ext cx="3657600" cy="219456"/>
          </a:xfrm>
          <a:prstGeom prst="rect">
            <a:avLst/>
          </a:prstGeom>
          <a:noFill/>
        </p:spPr>
        <p:txBody>
          <a:bodyPr wrap="square" lIns="22860" rIns="22860" tIns="13716" bIns="0">
            <a:spAutoFit/>
          </a:bodyPr>
          <a:lstStyle/>
          <a:p>
            <a:pPr algn="l">
              <a:spcAft>
                <a:spcPts val="300"/>
              </a:spcAft>
            </a:pPr>
            <a:r>
              <a:rPr sz="1100" b="1">
                <a:solidFill>
                  <a:srgbClr val="622423"/>
                </a:solidFill>
                <a:latin typeface="Times New Roman"/>
              </a:rPr>
              <a:t>IMPLEMENTATION &amp; EVIDENCE</a:t>
            </a:r>
          </a:p>
        </p:txBody>
      </p:sp>
      <p:sp>
        <p:nvSpPr>
          <p:cNvPr id="14" name="TextBox 13">
            <a:hlinkClick r:id="rId7"/>
          </p:cNvPr>
          <p:cNvSpPr txBox="1"/>
          <p:nvPr/>
        </p:nvSpPr>
        <p:spPr>
          <a:xfrm>
            <a:off x="4681728" y="1792224"/>
            <a:ext cx="3694176" cy="841247"/>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[6] Tencent NCNN; OpenCV official framework and tracking documentation.</a:t>
            </a:r>
          </a:p>
        </p:txBody>
      </p:sp>
      <p:sp>
        <p:nvSpPr>
          <p:cNvPr id="15" name="TextBox 14">
            <a:hlinkClick r:id="rId8"/>
          </p:cNvPr>
          <p:cNvSpPr txBox="1"/>
          <p:nvPr/>
        </p:nvSpPr>
        <p:spPr>
          <a:xfrm>
            <a:off x="4681728" y="2670048"/>
            <a:ext cx="3694176" cy="841247"/>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[7] menonkrishna57/model-car-capstone, GitHub main 9aeb238. Runtime, firmware and both runs_rdd/results.csv files.</a:t>
            </a:r>
          </a:p>
        </p:txBody>
      </p:sp>
      <p:sp>
        <p:nvSpPr>
          <p:cNvPr id="16" name="TextBox 15">
            <a:hlinkClick r:id="rId9"/>
          </p:cNvPr>
          <p:cNvSpPr txBox="1"/>
          <p:nvPr/>
        </p:nvSpPr>
        <p:spPr>
          <a:xfrm>
            <a:off x="4681728" y="3547872"/>
            <a:ext cx="3694176" cy="841247"/>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[8] Supplied final paper and 68-page report; separate Traffic Sign model card, synthetic evaluation and command-check reports.</a:t>
            </a:r>
          </a:p>
        </p:txBody>
      </p:sp>
      <p:sp>
        <p:nvSpPr>
          <p:cNvPr id="17" name="TextBox 16">
            <a:hlinkClick r:id="rId10"/>
          </p:cNvPr>
          <p:cNvSpPr txBox="1"/>
          <p:nvPr/>
        </p:nvSpPr>
        <p:spPr>
          <a:xfrm>
            <a:off x="4681728" y="4425696"/>
            <a:ext cx="3694176" cy="841247"/>
          </a:xfrm>
          <a:prstGeom prst="rect">
            <a:avLst/>
          </a:prstGeom>
          <a:noFill/>
        </p:spPr>
        <p:txBody>
          <a:bodyPr wrap="square" lIns="22860" rIns="22860" tIns="13716" bIns="0">
            <a:spAutoFit/>
          </a:bodyPr>
          <a:lstStyle/>
          <a:p>
            <a:pPr algn="l">
              <a:spcAft>
                <a:spcPts val="300"/>
              </a:spcAft>
            </a:pPr>
            <a:r>
              <a:rPr sz="1390" b="0">
                <a:solidFill>
                  <a:srgbClr val="172D3C"/>
                </a:solidFill>
                <a:latin typeface="Times New Roman"/>
              </a:rPr>
              <a:t>[9] United Nations: official Sustainable Development Goals 3, 9 and 11 and associated targets.</a:t>
            </a:r>
          </a:p>
        </p:txBody>
      </p:sp>
      <p:sp>
        <p:nvSpPr>
          <p:cNvPr id="18" name="Rounded Rectangle 17"/>
          <p:cNvSpPr/>
          <p:nvPr/>
        </p:nvSpPr>
        <p:spPr>
          <a:xfrm>
            <a:off x="548640" y="5513832"/>
            <a:ext cx="8046720" cy="347472"/>
          </a:xfrm>
          <a:prstGeom prst="roundRect">
            <a:avLst>
              <a:gd name="adj" fmla="val 10000"/>
            </a:avLst>
          </a:prstGeom>
          <a:solidFill>
            <a:srgbClr val="1635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550408"/>
            <a:ext cx="7827264" cy="274320"/>
          </a:xfrm>
          <a:prstGeom prst="rect">
            <a:avLst/>
          </a:prstGeom>
          <a:noFill/>
        </p:spPr>
        <p:txBody>
          <a:bodyPr wrap="none" lIns="22860" rIns="22860" tIns="13716" bIns="0">
            <a:spAutoFit/>
          </a:bodyPr>
          <a:lstStyle/>
          <a:p>
            <a:pPr algn="ctr">
              <a:spcAft>
                <a:spcPts val="300"/>
              </a:spcAft>
            </a:pPr>
            <a:r>
              <a:rPr sz="1260" b="1">
                <a:solidFill>
                  <a:srgbClr val="FFFFFF"/>
                </a:solidFill>
                <a:latin typeface="Times New Roman"/>
              </a:rPr>
              <a:t>Results-table row labels link directly to the logged metric sources.</a:t>
            </a: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540</TotalTime>
  <Application>LibreOfficeDev/26.8.0.0.alpha0$Linux_X86_64 LibreOffice_project/2c87e51eeaa2b413ff4ae097b2705eea1995d8e5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2013-08-02T16:24:08Z</dcterms:created>
  <dc:creator>Krishna Menon; Aditya Rana; Parth Surve</dc:creator>
  <dc:description/>
  <dc:language>en-US</dc:language>
  <cp:lastModifiedBy>Hima Deepthi Vankayalapati (Dr.)</cp:lastModifiedBy>
  <dcterms:modified xsi:type="dcterms:W3CDTF">2026-01-29T02:03:58Z</dcterms:modified>
  <cp:revision>164</cp:revision>
  <dc:subject>Image-led architecture and algorithms in the required institutional template; no actual car photographs</dc:subject>
  <dc:title>Self-Driving Mini Car — Visual Final Presentation</dc:title>
</cp:coreProperties>
</file>