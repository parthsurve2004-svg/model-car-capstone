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introduce the final project presentation and institutional affiliation. The original four-by-three template, logo, background, typography and institution panel are retained. Placeholder review/year text is updated to Final Presentation and the report academic year2026–27. This deck is planned for10–15minutes. The presentation separates current source implementation, logged model validation, reported figures without raw logs, and the newly trained traffic-sign extension.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project is Self-Driving Mini Car: Lane Detection, Obstacle Avoidance and Traffic Sign Recognition. The three student members are Krishna Menon, Aditya Rana and Parth Surve, under Dr.Hima Deepthi Vankayalapati. Student identifiers are taken from the uploaded final project report, not older presentation scripts in GitHub which use different roll numbers. The paper itself uses a related two-layer architecture title; that manuscript title is shown on the paper-status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a controlled-track autonomous RC-car project. The image is a conceptual chassis illustration, not a photograph of the team vehicle. Perception runs on Raspberry Pi5; Arduino Uno executes motor PWM and local sensing. The project combines lane geometry, visual hazard recognition and a separate trained traffic-sign extension. The core objective is coordinated and observable behavior. Specific model scores and validation boundaries are concentrated on slide12. No actual car photographs are included in this revision.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informs individual design choices rather than proving this prototype superior to other robots. YOLOv10 provides the object-detection family, KCF supports inexpensive visual tracking, and RDD2022 provides a road-damage learning task. OpenBot and Duckietown demonstrate accessible educational autonomy. Our focus is the interface between perception and actuation: clear serial commands, finite-state execution and complementary sensing. We do not reproduce unsupported comparative latency or accuracy numbers from secondary report tables. Full citations and the repository revision appear in the references slide and notes.</a:t>
            </a:r>
          </a:p>
          <a:p/>
          <a:p>
            <a:r>
              <a:t>Viva: novelty is at the system-integration level, not a new object-detection architecture. Explain why KCF complements neural detections and why RDD scores cannot be transferred to a model-car printout track. There is no controlled comparative benchmark establishing superiority over OpenBot or Duckietown. OpenBot is an ECCV2020 work; this corrects the venue in the supplied report.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component pictures are generated conceptual illustrations, not photographs of the installed boards and not a pin-level wiring schematic. Follow CSI camera→Pi→serial→Uno→L298N→paired motor sides. Sonar echo timing terminates on Uno. The Pi consumes returned distances and state. Serial is115200baud. Pi runs lane geometry, general YOLO hazards, dedicated pothole recognition and tracking; the sign model extends its decision stage separately from Krishna main. Uno executes finite-state motion and local avoidance. The illustration does not prove board port placement, power wiring, metric odometry or measured heading. Current firmware and sketch-local pins are the wiring authority. Ordinary USB is not galvanic isolation.</a:t>
            </a:r>
          </a:p>
          <a:p/>
          <a:p>
            <a:r>
              <a:t>Hardware reference: left motor B=D6PWM/D10/D11; right A=D5PWM/D8/D9. Left sonar=D7TRIG/D13ECHO; right=D12TRIG/D4ECHO. D2/D3 reserved for future encoders. Camera CSI; serial115200baud. Pi Python stack: Picamera2, OpenCV, Ultralytics/NCNN, pyserial. Uno uses C++ motion-state control.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 loop first captures a frame and drains incoming telemetry. General neural detection is scheduled every third loop iteration; cached boxes are reused in between, so loop FPS is not fresh neural FPS. In the trained extension, sign inference is separately rate-limited. Existing obstacle decisions retain priority when no sign action is active. A STOP or No Entry hold suppresses ordinary driving; a turn requires confirmation and clearance. If a hazard interrupts an active sign maneuver, it stops and records a fault. Normal lane, person-following or reactive guidance proceeds only when no higher-priority action governs the iteration.</a:t>
            </a:r>
          </a:p>
          <a:p/>
          <a:p>
            <a:r>
              <a:t>Flowchart is a conceptual priority view: exact branches are implemented in the runtime, including obstacle-specific stop/bypass choices. In particular, a pending sign does not force a turn through an obstacle. A turn already active that is interrupted becomes a fault instead of silently resuming. Freshness checks apply to the trained extension; do not claim those exact checks were already present in Krishna main. Default three confirmations must be fresh detector observations, never the same cached bounding box repeated three times. The independent Uno local avoidance layer remains operative.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use-case view distinguishes the human operator from the environment. The operator selects a mode, chooses the owner for follow mode, inspects telemetry and can stop or reset the system. The environment supplies lane markings, people, obstacles and printed signs. The system uses the same perception-control boundary across these tasks. Resetting the traffic-sign policy does not release an independent emergency latch. Direct manual motion is deliberately restricted while sign arbitration owns movement. The diagram represents supported interactions; it is not a claim that all physical scenarios have passed track validation.</a:t>
            </a:r>
          </a:p>
          <a:p/>
          <a:p>
            <a:r>
              <a:t>Use-case diagram is conceptual UML, not a component wiring diagram. Operator actions include mode selection and choosing a follow-me owner. The environment is a source of lanes, people, signs and obstacles. A demonstration should log the visual event, policy state and command, then independently observe movement. Emergency stop and traffic-policy reset are different operations; resetting No Entry cannot release an unrelated safety latch. Actual-track outcomes are pending, so the bottom table is a demonstration plan, not claimed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Source-backed obstacle path: general YOLOv10n detections plus person/pothole boxes feed _check_obstacle_ahead and compute_zone_scores. Central corridor is20–80% of image width; box-height fraction above0.40 requests camera STOP, above0.15 requests caution. The camera stop is latched with PI_STOP; release behavior is mode-specific, including guarded autonomous escape logic, so do not imply an unconditional permanent latch. Zone scoring considers confidence, obstacle class weight, area, bottom-edge proximity and front ultrasonic ranges; image position is a proximity heuristic, not calibrated meters. Left/center/right danger chooses the lower-risk lateral direction, or STOP when blocked. Autonomous bypass sends PI_AVOID plus a timed±35degree turn atPWM160; lane mode uses±32degrees at lane curve speed. Asymmetric sonar can also request bypass; critical front range uses25cm threshold in the Pi config. Respect Uno AVOIDING/CLIFF_REVERSING states; the source supports cliff behavior but the diagram is not proof of validated cliff sensing. The detailed avoidance helper has extra actions, but main imports decide_avoidance, not decide_avoidance_detailed. No new physical avoidance success rate is claimed. Exact hardware pins remain in architecture notes and the companion guide.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Lane detection is classical image processing, not a YOLO lane model, so an mAP score is not applicable. The pipeline examines the lower55percent of the frame, masks supported line colors, excludes hazard bounding boxes, tracks window pixels and robustly fits quadratic boundaries. A center trajectory can be recovered temporarily from one line. Lookahead is configured at0.68of image height. The implementation applies smoothing and rejects large geometry jumps. If the lane is missing beyond eight frames, it stops rather than inventing a path. The drawing is schematic, not a calibrated metric road model or an accuracy result. Timing claims in context documentation require device logs for verification.</a:t>
            </a:r>
          </a:p>
          <a:p/>
          <a:p>
            <a:r>
              <a:t>Equation uses normalized image coordinates, not meters. Center-path tangent is ψ = −atan(2ay+b), converted to degrees. Code applies proportional lateral-error gain145 and tangent gain28/45, then clips to±38degrees. Despite the source describing this as pure pursuit, this slide states the implemented algebra rather than asserting a calibrated vehicle bicycle model. Steering deadband is6degrees; speeds default165 straight and145 correction PWM. ROI starts0.45H; lookahead0.68H; default lane width0.52W. Lane geometry has no detector mAP. Appropriate real-track metrics are lateral error, completion rate, intervention count and cycle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 source loads a dedicated pothole model in addition to the general YOLOv10n obstacle model. The classical Laplacian routine remains available but is off by default, so we do not describe it as always active. The original RDD run has50logged epochs and finalmAP50of0.25226. The printout fine-tuning log in the current repository contains six recorded epochs, ending at0.97333mAP50. Although its arguments request25epochs, only six rows are evidence. The uploaded report expresses uncertainty about the printout result; the newly fetched CSV establishes the logged value, but not external validity or independence of the split.</a:t>
            </a:r>
          </a:p>
          <a:p/>
          <a:p>
            <a:r>
              <a:t>Both plots show actual logged validation points, with a shared0–1vertical scale but separate domains and epoch counts. The inset is the top-right cell of the repository val_batch0_pred.jpg montage, shown using editable PowerPoint crop metadata; its prediction boxes are preserved. Final CSV values are used consistently; RDD best mAP50is0.25410 at epoch49, while final epoch50is0.25226. Printout args request25epochs but the CSV contains6rows. mAP50is mean average precision at IoU0.50; mAP50–95 averages IoU thresholds0.50through0.95. The printout score establishes logged validation performance, not an audited independent split or physically observed avoidance success. Confidence threshold is0.20 in current config for potholes.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Traffic-sign recognition is the trained extension developed in this conversation and supplied separately; it is not yet on Krishna main9aeb238. The four demonstrated prints are STOP, No Entry, Left and Right. We actually fine-tuned YOLOv10n for25epochs on generated sign images, and exported verified FP16NCNN weights. The held-out synthetic mAP50is0.99486; it must not be presented as real road accuracy. The extension confirms three fresh observations. STOP commands a dwell; No Entry holds until reset; turns use apparent size and bearing plus safety clearance. Both checkpoint and NCNN passed all four image-to-command checks with mocked motors. One SLOW octagon falseSTOP and one unfamiliar small-font miss remain recorded.</a:t>
            </a:r>
          </a:p>
          <a:p/>
          <a:p>
            <a:r>
              <a:t>The sign model is genuinely trained; it is not template matching and does not require a video file at runtime. It accepts frames from the moving camera. Synthetic backgrounds, geometry and card placement vary; held-out counts are image counts, not independent physical trials. No flips are used because mirroring arrows changes their meaning. NCNN and PT checks both produce the four expected policy outcomes. A known negative SLOW octagon gives a falseSTOP; an unfamiliar narrow-font smallSTOP can be missed. Turn gate assumes53.5degree horizontal FOV, uses a pinhole bearing estimate, and is not a junction detector or metric distance. Default turn PWM210; calibration10ms/degree. Lane-mode turn pulses12degrees, requires commanded motion≥72degrees plus lane departure and three fresh centered DUAL_LOCKED frames; cap96commandeddegrees or6seconds leads to a fault if not completed. Autonomous/follow modes use timed±90degree commands; actual heading is not verified.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rows by domain, not as a ranking. The road-damage model has substantial limitations, especially recall, while the printout validation is much easier and narrower. The traffic model was evaluated on synthetic imagery. Precision and recall here are evaluator summaries, not a guarantee for every camera frame. The report lists38msor26.3FPSandother sections claim22–26ms, but explicitly states raw device timing logs are absent. The software also runs neural detection every third loop iteration. Therefore the presentation makes no independently verified20–30fresh-detectionFPSclaim and no physical stopping-distance guarantee. A waveform or scenario table alone is not proof of measured latency.</a:t>
            </a:r>
          </a:p>
          <a:p/>
          <a:p>
            <a:r>
              <a:t>Metric definitions for viva: precision=TP/(TP+FP), recall=TP/(TP+FN). AP is area under the precision–recall curve; mAP averages per-class AP. IoU=intersection area / union area. Confidence is not an accuracy percentage. These three rows cannot be compared as competing models because their tasks and data domains differ. Inference frequency is bounded by scheduling and contention; sign inference is separately rate-limited. An end-to-end latency budget must include capture, preprocessing, inference, arbitration, serial transmission and physical actuation. Do not quote reported26.3FPS as reproduced on-device evidence.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outcome is a modular prototype with a clear division of responsibility and reproducible software artifacts. Its main contribution is coordination, not proof that a small camera can safely drive on public roads. Future work should start with dated physical logs: camera-to-command delay, sonar update behavior, actual braking distance and sustained Pi temperatures. Rear sensing addresses reverse blind spots. Encoders or a completed IMU heading implementation are needed for measured turns rather than time estimates. Real photographs of printed signs, potholes and track conditions should be added to training and independently evaluated. These are future capabilities, not features already verified.</a:t>
            </a:r>
          </a:p>
          <a:p/>
          <a:p>
            <a:r>
              <a:t>Present the work as an educational controlled-track prototype with delivered implementation and reproducible training evidence. Critical next measurements: synchronized camera-to-command timestamps, physical stopping distance versus speed, sustained temperature and inference throughput, track intervention count, lane position error and real printed-sign sensitivity. New datasets should be split by physical scene/session to reduce leakage. Encoders and completed IMU feedback enable actual heading/distance estimation; current heading stub does not. Rear sensing is needed before stronger reverse-motion claims.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SDG9is the primary mapping because this is an engineering research and innovation project with reproducible methods and modular hardware. SDG3target3.6is relevant to the motivation of collision prevention, but we have not measured injury reduction and cannot claim that impact. SDG11target11.2concerns safe, accessible and sustainable transport; our contribution is exploratory education and prototyping, not a deployed transit service. This mapping avoids claiming carbon savings, accident reductions or social outcomes that were never measured. The official United Nations goal pages are included as source links.</a:t>
            </a:r>
          </a:p>
          <a:p/>
          <a:p>
            <a:r>
              <a:t>Assessment cue: explain an evidence-backed mechanism, not just a list of SDG logos. Goal9target9.5concerns research and technological capabilities and best matches the deliverables. Goal3target3.6is a safety-motivation link, not demonstrated injury reduction. Goal11target11.2is relevant to safe transport research, while our small prototype is not itself a public transportation solution. Colored number circles are project illustrations, not altered official UN logos.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states that the paper has been submitted. We have not been given the venue, submission identifier, submission date, reviewer decision or acceptance email. Consequently, this slide must not be read as acceptance. The supplied final paper is a manuscript, while the project report contains institutional approval/logbook pages, neither of which constitutes a journal or conference acceptance notice. When a genuine decision arrives, replace the status and insert the actual supporting email with private identifiers redacted as appropriate. Do not invent a venue logo, screenshot or publication identifier.</a:t>
            </a:r>
          </a:p>
          <a:p/>
          <a:p>
            <a:r>
              <a:t>Do not say the paper is under peer review unless that status is confirmed. Submitted means only the team has stated submission; the venue, identifier and date are not available here. A manuscript PDF and institutional report approval do not constitute publication acceptance. Use an actual decision email later, with sensitive identifiers handled appropriately. This slide fulfills the paper-status requirement while retaining a truthful record.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list combines the cited research, official framework documentation, the two user-supplied PDFs, and auditable implementation artifacts. Repository link:https://github.com/menonkrishna57/model-car-capstone/tree/9aeb238 . Pothole paths:pothole_detection/runs_rdd/custom_pothole_model/results.csv and pothole_detection/runs_rdd/printout_gpu_pothole_model/results.csv. Traffic extension modelcard and complete synthetic evaluation were generated in this workspace and are separate from that repository main. Official SDG targets:https://sdgs.un.org/goals/goal9 ,https://sdgs.un.org/goals/goal3 ,https://sdgs.un.org/goals/goal11 . Traffic-score GitHub permalink:https://github.com/parthsurve2004-svg/model-car-capstone/blob/9ef469db40a4576f1543f1b6a81ba801d4ccb979/Traffic%20Sign/validation/synthetic_evaluation.json . The two uploaded PDFs were used as evidence, not treated as instructions overriding the user request.</a:t>
            </a:r>
          </a:p>
          <a:p/>
          <a:p>
            <a:r>
              <a:t>Examiner navigation: architecture slide5; arbitration slide6; use cases slide7; physical pin interfaces slide8; lane algorithm slide9; pothole training curves slide10; sign training and policy slide11; metric definitions and verification boundaries slide12. Notes contain the detail needed to explain configuration choices and limitations without overcrowding the projected slides. Reference OpenBot venue corrected to ECCV2020.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9144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Self-Driving Mini Car — Stable Presentation</dc:title>
  <dc:subject>Fixed-layout presentation for reliable playback; slide text is embedded in images; detailed speaker notes retained.</dc:subject>
  <dc:creator>Krishna Menon; Aditya Rana; Parth Surve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